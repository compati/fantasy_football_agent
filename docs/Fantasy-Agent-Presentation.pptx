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E6C0696A-C4A7-A936-6DC7-5CB56DE89CC5}">
          <p14:sldIdLst>
            <p14:sldId id="256"/>
            <p14:sldId id="257"/>
          </p14:sldIdLst>
        </p14:section>
        <p14:section name="Build" id="{5B31EF5B-4DFC-6D6E-7D02-7DCC3B77BAF2}">
          <p14:sldIdLst>
            <p14:sldId id="258"/>
            <p14:sldId id="259"/>
          </p14:sldIdLst>
        </p14:section>
        <p14:section name="Demo" id="{D0979D34-1D5F-7FAE-9BAE-ED622A0D1C6B}">
          <p14:sldIdLst>
            <p14:sldId id="260"/>
          </p14:sldIdLst>
        </p14:section>
        <p14:section name="Wrap-up" id="{C0A0BC7C-E9D6-A1BD-5DA1-6761B94F5FDD}">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047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 Name and project, then straight to the problem slide. Have the terminal already open with the command typed.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Say the bold sentence, nothing more. The six sources: Sleeper, three other projection sites (ESPN, CBS, FFToday), FantasyCalc trade values, Vegas lines, plus YouTube analysts for news.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Left: the loop is about 150 lines in lib/agent/loop.ts, using the Anthropic SDK directly. Step 2 is the only place the model acts. Tools run in parallel; an error goes back to the model as a result, so it can correct itself. Right: I built and backtested the bottom two layers first with no AI, then wrapped nine features as tools. Point at the files: fetch = lib/ingest, decide = loop.ts.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This is the question the professor is most likely to ask. Left column has one right answer each, so it is code. Right column is judgment. Say the script answer out loud: the weekly plan is scriptable and I built it that way first (lib/agent/advisor.ts, still in the repo). Swap the AI for rules and a fixed weekly check barely changes; what you lose is open questions, branching on results (example: it checked WR waivers on its own after RB and TE were not upgrades), and recovering from a wrong league name.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Switch to the terminal and press Enter. Narrate: turn 1 lists my leagues; turn 2 asks for the matchup in all three leagues at once; then it picks the worst one and goes deeper there. Point out any turn where it changes course. End on the answer, the turn/tool/token counts, and the line where it says it can't make the moves for me. If it breaks, say so and show the saved backup run or screenshots. First, in this terminal: PLAN_WEEK is set to 6, because Sleeper only moves to the next week on Tuesday. Oct 12 dry run (Sonnet 5): 6 turns, 7 tool calls, 25 seconds; it picked Escalated Calls at 51% to win, found 6.5 points on the bench, and noticed the starting defense was on bye.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Pick one item per column. Evals: 9 fixed questions scored by code checks plus a second model (Opus 5) as judge. On Oct 11 I tried the cheapest model, Haiku 4.5: it looped fine and was about 2.5x faster, but passed only 4 of 9. It invented details no tool returned (a $15 bid, "9 to 11 weeks remaining", an injury for a player), read a rank backwards, and did not say it can't place a waiver claim. Sonnet 5 scored 9, 9, 6 and 7 of 9 across four runs, so it is clearly better, but one run is not a reliable score: the failures are small ungrounded phrases and they move between cases. Next step is running each case several times and reporting a pass rate. Stale data: one run had no projections loaded for the week; the tools returned zeros and the agent declined to recommend moves. The backtest also removed a matchup tiebreaker that made start/sit calls worse. Close: the repo is on GitHub with a README that says how to run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532D"/>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143000"/>
            <a:ext cx="8046720" cy="100584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548640" y="2377440"/>
            <a:ext cx="7498080" cy="1280160"/>
          </a:xfrm>
          <a:prstGeom prst="rect">
            <a:avLst/>
          </a:prstGeom>
          <a:noFill/>
          <a:ln/>
        </p:spPr>
        <p:txBody>
          <a:bodyPr wrap="square" rtlCol="0"/>
          <a:lstStyle>
            <a:lvl1pPr marL="0" indent="0" algn="l">
              <a:buNone/>
              <a:defRPr lang="en-US" sz="2000" dirty="0">
                <a:solidFill>
                  <a:schemeClr val="bg1"/>
                </a:solidFill>
              </a:defRPr>
            </a:lvl1pPr>
          </a:lstStyle>
          <a:p>
            <a:pPr marL="0" indent="0" algn="l">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14532D"/>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Marker"/>
          <p:cNvSpPr/>
          <p:nvPr/>
        </p:nvSpPr>
        <p:spPr>
          <a:xfrm>
            <a:off x="548640" y="640080"/>
            <a:ext cx="292608" cy="292608"/>
          </a:xfrm>
          <a:prstGeom prst="ellipse">
            <a:avLst/>
          </a:prstGeom>
          <a:solidFill>
            <a:schemeClr val="accent2"/>
          </a:solidFill>
          <a:ln w="12700">
            <a:solidFill>
              <a:schemeClr val="accent2"/>
            </a:solidFill>
            <a:prstDash val="solid"/>
          </a:ln>
        </p:spPr>
        <p:txBody>
          <a:bodyPr/>
          <a:lstStyle/>
          <a:p>
            <a:endParaRPr lang="en-US"/>
          </a:p>
        </p:txBody>
      </p:sp>
      <p:sp>
        <p:nvSpPr>
          <p:cNvPr id="3" name="Kicker"/>
          <p:cNvSpPr txBox="1"/>
          <p:nvPr/>
        </p:nvSpPr>
        <p:spPr>
          <a:xfrm>
            <a:off x="960120" y="640080"/>
            <a:ext cx="5486400" cy="292608"/>
          </a:xfrm>
          <a:prstGeom prst="rect">
            <a:avLst/>
          </a:prstGeom>
          <a:noFill/>
          <a:ln/>
        </p:spPr>
        <p:txBody>
          <a:bodyPr wrap="square" lIns="0" tIns="0" rIns="0" bIns="0" rtlCol="0" anchor="ctr"/>
          <a:lstStyle/>
          <a:p>
            <a:pPr marL="0" indent="0">
              <a:buNone/>
            </a:pPr>
            <a:r>
              <a:rPr lang="en-US" sz="1200" b="1" kern="0" spc="200" dirty="0">
                <a:solidFill>
                  <a:schemeClr val="accent5"/>
                </a:solidFill>
              </a:rPr>
              <a:t>MINI-PROJECT  ·  BUAN 6V99 – Agentic AI</a:t>
            </a:r>
            <a:endParaRPr lang="en-US" sz="1200" dirty="0"/>
          </a:p>
        </p:txBody>
      </p:sp>
      <p:sp>
        <p:nvSpPr>
          <p:cNvPr id="4" name="Text 0"/>
          <p:cNvSpPr>
            <a:spLocks noGrp="1"/>
          </p:cNvSpPr>
          <p:nvPr>
            <p:ph type="title" idx="100" hasCustomPrompt="1"/>
          </p:nvPr>
        </p:nvSpPr>
        <p:spPr>
          <a:xfrm>
            <a:off x="548640" y="1143000"/>
            <a:ext cx="8046720" cy="1005840"/>
          </a:xfrm>
          <a:prstGeom prst="rect">
            <a:avLst/>
          </a:prstGeom>
          <a:noFill/>
          <a:ln/>
        </p:spPr>
        <p:txBody>
          <a:bodyPr wrap="square" lIns="0" tIns="0" rIns="0" bIns="0" rtlCol="0" anchor="b"/>
          <a:lstStyle/>
          <a:p>
            <a:pPr marL="0" indent="0" algn="l">
              <a:buNone/>
            </a:pPr>
            <a:r>
              <a:rPr lang="en-US" sz="4400" b="1" dirty="0">
                <a:solidFill>
                  <a:schemeClr val="bg1"/>
                </a:solidFill>
              </a:rPr>
              <a:t>Fantasy Football Agent</a:t>
            </a:r>
            <a:endParaRPr lang="en-US" sz="4400" dirty="0"/>
          </a:p>
        </p:txBody>
      </p:sp>
      <p:sp>
        <p:nvSpPr>
          <p:cNvPr id="5" name="Text 0"/>
          <p:cNvSpPr>
            <a:spLocks noGrp="1"/>
          </p:cNvSpPr>
          <p:nvPr>
            <p:ph type="body" idx="101" hasCustomPrompt="1"/>
          </p:nvPr>
        </p:nvSpPr>
        <p:spPr>
          <a:xfrm>
            <a:off x="548640" y="2377440"/>
            <a:ext cx="7498080" cy="1280160"/>
          </a:xfrm>
          <a:prstGeom prst="rect">
            <a:avLst/>
          </a:prstGeom>
          <a:noFill/>
          <a:ln/>
        </p:spPr>
        <p:txBody>
          <a:bodyPr wrap="square" lIns="0" tIns="0" rIns="0" bIns="0" rtlCol="0" anchor="t"/>
          <a:lstStyle/>
          <a:p>
            <a:pPr marL="0" indent="0" algn="l">
              <a:buNone/>
            </a:pPr>
            <a:r>
              <a:rPr lang="en-US" sz="2000" dirty="0">
                <a:solidFill>
                  <a:schemeClr val="bg1"/>
                </a:solidFill>
              </a:rPr>
              <a:t>An agent that works out which of my leagues needs attention this week, and what to do about it.</a:t>
            </a:r>
            <a:endParaRPr lang="en-US" sz="2000" dirty="0"/>
          </a:p>
        </p:txBody>
      </p:sp>
      <p:sp>
        <p:nvSpPr>
          <p:cNvPr id="6" name="Byline"/>
          <p:cNvSpPr txBox="1"/>
          <p:nvPr/>
        </p:nvSpPr>
        <p:spPr>
          <a:xfrm>
            <a:off x="548640" y="4343400"/>
            <a:ext cx="5486400" cy="320040"/>
          </a:xfrm>
          <a:prstGeom prst="rect">
            <a:avLst/>
          </a:prstGeom>
          <a:noFill/>
          <a:ln/>
        </p:spPr>
        <p:txBody>
          <a:bodyPr wrap="square" lIns="0" tIns="0" rIns="0" bIns="0" rtlCol="0" anchor="ctr"/>
          <a:lstStyle/>
          <a:p>
            <a:pPr marL="0" indent="0">
              <a:buNone/>
            </a:pPr>
            <a:r>
              <a:rPr lang="en-US" sz="1400" dirty="0">
                <a:solidFill>
                  <a:schemeClr val="accent5"/>
                </a:solidFill>
              </a:rPr>
              <a:t>Alex Miller  ·  October 12,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000" b="1" dirty="0">
                <a:solidFill>
                  <a:schemeClr val="tx2"/>
                </a:solidFill>
              </a:rPr>
              <a:t>Weekly decisions, scattered data</a:t>
            </a:r>
            <a:endParaRPr lang="en-US" sz="3000" dirty="0"/>
          </a:p>
        </p:txBody>
      </p:sp>
      <p:sp>
        <p:nvSpPr>
          <p:cNvPr id="3" name="Problem text"/>
          <p:cNvSpPr txBox="1"/>
          <p:nvPr/>
        </p:nvSpPr>
        <p:spPr>
          <a:xfrm>
            <a:off x="457200" y="1325880"/>
            <a:ext cx="4206240" cy="2926080"/>
          </a:xfrm>
          <a:prstGeom prst="rect">
            <a:avLst/>
          </a:prstGeom>
          <a:noFill/>
          <a:ln/>
        </p:spPr>
        <p:txBody>
          <a:bodyPr wrap="square" lIns="0" tIns="0" rIns="0" bIns="0" rtlCol="0" anchor="t"/>
          <a:lstStyle/>
          <a:p>
            <a:pPr marL="0" indent="0">
              <a:spcAft>
                <a:spcPts val="1200"/>
              </a:spcAft>
              <a:buNone/>
            </a:pPr>
            <a:r>
              <a:rPr lang="en-US" sz="1600" b="1" dirty="0">
                <a:solidFill>
                  <a:schemeClr val="tx1"/>
                </a:solidFill>
              </a:rPr>
              <a:t>I manage teams in several fantasy leagues, and every week I was spending too much time trying to make roster decisions.</a:t>
            </a:r>
            <a:endParaRPr lang="en-US" sz="1600" dirty="0"/>
          </a:p>
          <a:p>
            <a:pPr marL="0" indent="0">
              <a:buNone/>
            </a:pPr>
            <a:r>
              <a:rPr lang="en-US" sz="1600" dirty="0">
                <a:solidFill>
                  <a:schemeClr val="tx1"/>
                </a:solidFill>
              </a:rPr>
              <a:t>Each league needs a lineup, waiver bids and a look at trades. The numbers behind those calls sit on four projection sites, a trade-value market, Vegas lines and each league's own bidding history.</a:t>
            </a:r>
            <a:endParaRPr lang="en-US" sz="1600" dirty="0"/>
          </a:p>
        </p:txBody>
      </p:sp>
      <p:sp>
        <p:nvSpPr>
          <p:cNvPr id="4" name="Stat card 1"/>
          <p:cNvSpPr/>
          <p:nvPr/>
        </p:nvSpPr>
        <p:spPr>
          <a:xfrm>
            <a:off x="5120640" y="1325880"/>
            <a:ext cx="3566160" cy="868680"/>
          </a:xfrm>
          <a:prstGeom prst="roundRect">
            <a:avLst>
              <a:gd name="adj" fmla="val 8421"/>
            </a:avLst>
          </a:prstGeom>
          <a:solidFill>
            <a:schemeClr val="bg2"/>
          </a:solidFill>
          <a:ln w="12700">
            <a:solidFill>
              <a:schemeClr val="bg2"/>
            </a:solidFill>
            <a:prstDash val="solid"/>
          </a:ln>
        </p:spPr>
        <p:txBody>
          <a:bodyPr/>
          <a:lstStyle/>
          <a:p>
            <a:endParaRPr lang="en-US"/>
          </a:p>
        </p:txBody>
      </p:sp>
      <p:sp>
        <p:nvSpPr>
          <p:cNvPr id="5" name="Stat 1"/>
          <p:cNvSpPr txBox="1"/>
          <p:nvPr/>
        </p:nvSpPr>
        <p:spPr>
          <a:xfrm>
            <a:off x="5303520" y="1325880"/>
            <a:ext cx="822960" cy="868680"/>
          </a:xfrm>
          <a:prstGeom prst="rect">
            <a:avLst/>
          </a:prstGeom>
          <a:noFill/>
          <a:ln/>
        </p:spPr>
        <p:txBody>
          <a:bodyPr wrap="square" lIns="0" tIns="0" rIns="0" bIns="0" rtlCol="0" anchor="ctr"/>
          <a:lstStyle/>
          <a:p>
            <a:pPr marL="0" indent="0" algn="ctr">
              <a:buNone/>
            </a:pPr>
            <a:r>
              <a:rPr lang="en-US" sz="4400" b="1" dirty="0">
                <a:solidFill>
                  <a:schemeClr val="accent1"/>
                </a:solidFill>
              </a:rPr>
              <a:t>3</a:t>
            </a:r>
            <a:endParaRPr lang="en-US" sz="4400" dirty="0"/>
          </a:p>
        </p:txBody>
      </p:sp>
      <p:sp>
        <p:nvSpPr>
          <p:cNvPr id="6" name="Stat label 1"/>
          <p:cNvSpPr txBox="1"/>
          <p:nvPr/>
        </p:nvSpPr>
        <p:spPr>
          <a:xfrm>
            <a:off x="6217920" y="1325880"/>
            <a:ext cx="2331720" cy="868680"/>
          </a:xfrm>
          <a:prstGeom prst="rect">
            <a:avLst/>
          </a:prstGeom>
          <a:noFill/>
          <a:ln/>
        </p:spPr>
        <p:txBody>
          <a:bodyPr wrap="square" lIns="0" tIns="0" rIns="0" bIns="0" rtlCol="0" anchor="ctr"/>
          <a:lstStyle/>
          <a:p>
            <a:pPr marL="0" indent="0">
              <a:buNone/>
            </a:pPr>
            <a:r>
              <a:rPr lang="en-US" sz="1500" dirty="0">
                <a:solidFill>
                  <a:schemeClr val="tx1"/>
                </a:solidFill>
              </a:rPr>
              <a:t>leagues, each with a different format</a:t>
            </a:r>
            <a:endParaRPr lang="en-US" sz="1500" dirty="0"/>
          </a:p>
        </p:txBody>
      </p:sp>
      <p:sp>
        <p:nvSpPr>
          <p:cNvPr id="7" name="Stat card 2"/>
          <p:cNvSpPr/>
          <p:nvPr/>
        </p:nvSpPr>
        <p:spPr>
          <a:xfrm>
            <a:off x="5120640" y="2350008"/>
            <a:ext cx="3566160" cy="868680"/>
          </a:xfrm>
          <a:prstGeom prst="roundRect">
            <a:avLst>
              <a:gd name="adj" fmla="val 8421"/>
            </a:avLst>
          </a:prstGeom>
          <a:solidFill>
            <a:schemeClr val="bg2"/>
          </a:solidFill>
          <a:ln w="12700">
            <a:solidFill>
              <a:schemeClr val="bg2"/>
            </a:solidFill>
            <a:prstDash val="solid"/>
          </a:ln>
        </p:spPr>
        <p:txBody>
          <a:bodyPr/>
          <a:lstStyle/>
          <a:p>
            <a:endParaRPr lang="en-US"/>
          </a:p>
        </p:txBody>
      </p:sp>
      <p:sp>
        <p:nvSpPr>
          <p:cNvPr id="8" name="Stat 2"/>
          <p:cNvSpPr txBox="1"/>
          <p:nvPr/>
        </p:nvSpPr>
        <p:spPr>
          <a:xfrm>
            <a:off x="5303520" y="2350008"/>
            <a:ext cx="822960" cy="868680"/>
          </a:xfrm>
          <a:prstGeom prst="rect">
            <a:avLst/>
          </a:prstGeom>
          <a:noFill/>
          <a:ln/>
        </p:spPr>
        <p:txBody>
          <a:bodyPr wrap="square" lIns="0" tIns="0" rIns="0" bIns="0" rtlCol="0" anchor="ctr"/>
          <a:lstStyle/>
          <a:p>
            <a:pPr marL="0" indent="0" algn="ctr">
              <a:buNone/>
            </a:pPr>
            <a:r>
              <a:rPr lang="en-US" sz="4400" b="1" dirty="0">
                <a:solidFill>
                  <a:schemeClr val="accent1"/>
                </a:solidFill>
              </a:rPr>
              <a:t>3</a:t>
            </a:r>
            <a:endParaRPr lang="en-US" sz="4400" dirty="0"/>
          </a:p>
        </p:txBody>
      </p:sp>
      <p:sp>
        <p:nvSpPr>
          <p:cNvPr id="9" name="Stat label 2"/>
          <p:cNvSpPr txBox="1"/>
          <p:nvPr/>
        </p:nvSpPr>
        <p:spPr>
          <a:xfrm>
            <a:off x="6217920" y="2350008"/>
            <a:ext cx="2331720" cy="868680"/>
          </a:xfrm>
          <a:prstGeom prst="rect">
            <a:avLst/>
          </a:prstGeom>
          <a:noFill/>
          <a:ln/>
        </p:spPr>
        <p:txBody>
          <a:bodyPr wrap="square" lIns="0" tIns="0" rIns="0" bIns="0" rtlCol="0" anchor="ctr"/>
          <a:lstStyle/>
          <a:p>
            <a:pPr marL="0" indent="0">
              <a:buNone/>
            </a:pPr>
            <a:r>
              <a:rPr lang="en-US" sz="1500" dirty="0">
                <a:solidFill>
                  <a:schemeClr val="tx1"/>
                </a:solidFill>
              </a:rPr>
              <a:t>decisions per league, every week</a:t>
            </a:r>
            <a:endParaRPr lang="en-US" sz="1500" dirty="0"/>
          </a:p>
        </p:txBody>
      </p:sp>
      <p:sp>
        <p:nvSpPr>
          <p:cNvPr id="10" name="Stat card 3"/>
          <p:cNvSpPr/>
          <p:nvPr/>
        </p:nvSpPr>
        <p:spPr>
          <a:xfrm>
            <a:off x="5120640" y="3374136"/>
            <a:ext cx="3566160" cy="868680"/>
          </a:xfrm>
          <a:prstGeom prst="roundRect">
            <a:avLst>
              <a:gd name="adj" fmla="val 8421"/>
            </a:avLst>
          </a:prstGeom>
          <a:solidFill>
            <a:schemeClr val="bg2"/>
          </a:solidFill>
          <a:ln w="12700">
            <a:solidFill>
              <a:schemeClr val="bg2"/>
            </a:solidFill>
            <a:prstDash val="solid"/>
          </a:ln>
        </p:spPr>
        <p:txBody>
          <a:bodyPr/>
          <a:lstStyle/>
          <a:p>
            <a:endParaRPr lang="en-US"/>
          </a:p>
        </p:txBody>
      </p:sp>
      <p:sp>
        <p:nvSpPr>
          <p:cNvPr id="11" name="Stat 3"/>
          <p:cNvSpPr txBox="1"/>
          <p:nvPr/>
        </p:nvSpPr>
        <p:spPr>
          <a:xfrm>
            <a:off x="5303520" y="3374136"/>
            <a:ext cx="822960" cy="868680"/>
          </a:xfrm>
          <a:prstGeom prst="rect">
            <a:avLst/>
          </a:prstGeom>
          <a:noFill/>
          <a:ln/>
        </p:spPr>
        <p:txBody>
          <a:bodyPr wrap="square" lIns="0" tIns="0" rIns="0" bIns="0" rtlCol="0" anchor="ctr"/>
          <a:lstStyle/>
          <a:p>
            <a:pPr marL="0" indent="0" algn="ctr">
              <a:buNone/>
            </a:pPr>
            <a:r>
              <a:rPr lang="en-US" sz="4400" b="1" dirty="0">
                <a:solidFill>
                  <a:schemeClr val="accent1"/>
                </a:solidFill>
              </a:rPr>
              <a:t>6</a:t>
            </a:r>
            <a:endParaRPr lang="en-US" sz="4400" dirty="0"/>
          </a:p>
        </p:txBody>
      </p:sp>
      <p:sp>
        <p:nvSpPr>
          <p:cNvPr id="12" name="Stat label 3"/>
          <p:cNvSpPr txBox="1"/>
          <p:nvPr/>
        </p:nvSpPr>
        <p:spPr>
          <a:xfrm>
            <a:off x="6217920" y="3374136"/>
            <a:ext cx="2331720" cy="868680"/>
          </a:xfrm>
          <a:prstGeom prst="rect">
            <a:avLst/>
          </a:prstGeom>
          <a:noFill/>
          <a:ln/>
        </p:spPr>
        <p:txBody>
          <a:bodyPr wrap="square" lIns="0" tIns="0" rIns="0" bIns="0" rtlCol="0" anchor="ctr"/>
          <a:lstStyle/>
          <a:p>
            <a:pPr marL="0" indent="0">
              <a:buNone/>
            </a:pPr>
            <a:r>
              <a:rPr lang="en-US" sz="1500" dirty="0">
                <a:solidFill>
                  <a:schemeClr val="tx1"/>
                </a:solidFill>
              </a:rPr>
              <a:t>data sources to check by hand</a:t>
            </a:r>
            <a:endParaRPr lang="en-US" sz="15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000" b="1" dirty="0">
                <a:solidFill>
                  <a:schemeClr val="tx2"/>
                </a:solidFill>
              </a:rPr>
              <a:t>A hand-written loop, no framework</a:t>
            </a:r>
            <a:endParaRPr lang="en-US" sz="3000" dirty="0"/>
          </a:p>
        </p:txBody>
      </p:sp>
      <p:sp>
        <p:nvSpPr>
          <p:cNvPr id="3" name="Loop box 1"/>
          <p:cNvSpPr/>
          <p:nvPr/>
        </p:nvSpPr>
        <p:spPr>
          <a:xfrm>
            <a:off x="457200" y="1280160"/>
            <a:ext cx="1965960" cy="914400"/>
          </a:xfrm>
          <a:prstGeom prst="roundRect">
            <a:avLst>
              <a:gd name="adj" fmla="val 8000"/>
            </a:avLst>
          </a:prstGeom>
          <a:solidFill>
            <a:schemeClr val="bg2"/>
          </a:solidFill>
          <a:ln w="12700">
            <a:solidFill>
              <a:schemeClr val="bg2"/>
            </a:solidFill>
            <a:prstDash val="solid"/>
          </a:ln>
        </p:spPr>
        <p:txBody>
          <a:bodyPr/>
          <a:lstStyle/>
          <a:p>
            <a:endParaRPr lang="en-US"/>
          </a:p>
        </p:txBody>
      </p:sp>
      <p:sp>
        <p:nvSpPr>
          <p:cNvPr id="4" name="Loop number bg 1"/>
          <p:cNvSpPr/>
          <p:nvPr/>
        </p:nvSpPr>
        <p:spPr>
          <a:xfrm>
            <a:off x="566928" y="1389888"/>
            <a:ext cx="274320" cy="274320"/>
          </a:xfrm>
          <a:prstGeom prst="ellipse">
            <a:avLst/>
          </a:prstGeom>
          <a:solidFill>
            <a:schemeClr val="accent2"/>
          </a:solidFill>
          <a:ln w="12700">
            <a:solidFill>
              <a:schemeClr val="accent2"/>
            </a:solidFill>
            <a:prstDash val="solid"/>
          </a:ln>
        </p:spPr>
        <p:txBody>
          <a:bodyPr/>
          <a:lstStyle/>
          <a:p>
            <a:endParaRPr lang="en-US"/>
          </a:p>
        </p:txBody>
      </p:sp>
      <p:sp>
        <p:nvSpPr>
          <p:cNvPr id="5" name="Loop number 1"/>
          <p:cNvSpPr txBox="1"/>
          <p:nvPr/>
        </p:nvSpPr>
        <p:spPr>
          <a:xfrm>
            <a:off x="566928" y="1389888"/>
            <a:ext cx="274320" cy="274320"/>
          </a:xfrm>
          <a:prstGeom prst="rect">
            <a:avLst/>
          </a:prstGeom>
          <a:noFill/>
          <a:ln/>
        </p:spPr>
        <p:txBody>
          <a:bodyPr wrap="square" lIns="0" tIns="0" rIns="0" bIns="0" rtlCol="0" anchor="ctr"/>
          <a:lstStyle/>
          <a:p>
            <a:pPr marL="0" indent="0" algn="ctr">
              <a:buNone/>
            </a:pPr>
            <a:r>
              <a:rPr lang="en-US" sz="1200" b="1" dirty="0">
                <a:solidFill>
                  <a:schemeClr val="tx1"/>
                </a:solidFill>
              </a:rPr>
              <a:t>1</a:t>
            </a:r>
            <a:endParaRPr lang="en-US" sz="1200" dirty="0"/>
          </a:p>
        </p:txBody>
      </p:sp>
      <p:sp>
        <p:nvSpPr>
          <p:cNvPr id="6" name="Loop text 1"/>
          <p:cNvSpPr txBox="1"/>
          <p:nvPr/>
        </p:nvSpPr>
        <p:spPr>
          <a:xfrm>
            <a:off x="914400" y="1353312"/>
            <a:ext cx="1417320" cy="768096"/>
          </a:xfrm>
          <a:prstGeom prst="rect">
            <a:avLst/>
          </a:prstGeom>
          <a:noFill/>
          <a:ln/>
        </p:spPr>
        <p:txBody>
          <a:bodyPr wrap="square" lIns="0" tIns="0" rIns="0" bIns="0" rtlCol="0" anchor="ctr"/>
          <a:lstStyle/>
          <a:p>
            <a:pPr marL="0" indent="0">
              <a:buNone/>
            </a:pPr>
            <a:r>
              <a:rPr lang="en-US" sz="1400" dirty="0">
                <a:solidFill>
                  <a:schemeClr val="tx1"/>
                </a:solidFill>
              </a:rPr>
              <a:t>Send the question and the tool list to Claude</a:t>
            </a:r>
            <a:endParaRPr lang="en-US" sz="1400" dirty="0"/>
          </a:p>
        </p:txBody>
      </p:sp>
      <p:sp>
        <p:nvSpPr>
          <p:cNvPr id="7" name="Loop box 2"/>
          <p:cNvSpPr/>
          <p:nvPr/>
        </p:nvSpPr>
        <p:spPr>
          <a:xfrm>
            <a:off x="2788920" y="1280160"/>
            <a:ext cx="1965960" cy="914400"/>
          </a:xfrm>
          <a:prstGeom prst="roundRect">
            <a:avLst>
              <a:gd name="adj" fmla="val 8000"/>
            </a:avLst>
          </a:prstGeom>
          <a:solidFill>
            <a:schemeClr val="tx2"/>
          </a:solidFill>
          <a:ln w="12700">
            <a:solidFill>
              <a:schemeClr val="tx2"/>
            </a:solidFill>
            <a:prstDash val="solid"/>
          </a:ln>
        </p:spPr>
        <p:txBody>
          <a:bodyPr/>
          <a:lstStyle/>
          <a:p>
            <a:endParaRPr lang="en-US"/>
          </a:p>
        </p:txBody>
      </p:sp>
      <p:sp>
        <p:nvSpPr>
          <p:cNvPr id="8" name="Loop number bg 2"/>
          <p:cNvSpPr/>
          <p:nvPr/>
        </p:nvSpPr>
        <p:spPr>
          <a:xfrm>
            <a:off x="2898648" y="1389888"/>
            <a:ext cx="274320" cy="274320"/>
          </a:xfrm>
          <a:prstGeom prst="ellipse">
            <a:avLst/>
          </a:prstGeom>
          <a:solidFill>
            <a:schemeClr val="accent2"/>
          </a:solidFill>
          <a:ln w="12700">
            <a:solidFill>
              <a:schemeClr val="accent2"/>
            </a:solidFill>
            <a:prstDash val="solid"/>
          </a:ln>
        </p:spPr>
        <p:txBody>
          <a:bodyPr/>
          <a:lstStyle/>
          <a:p>
            <a:endParaRPr lang="en-US"/>
          </a:p>
        </p:txBody>
      </p:sp>
      <p:sp>
        <p:nvSpPr>
          <p:cNvPr id="9" name="Loop number 2"/>
          <p:cNvSpPr txBox="1"/>
          <p:nvPr/>
        </p:nvSpPr>
        <p:spPr>
          <a:xfrm>
            <a:off x="2898648" y="1389888"/>
            <a:ext cx="274320" cy="274320"/>
          </a:xfrm>
          <a:prstGeom prst="rect">
            <a:avLst/>
          </a:prstGeom>
          <a:noFill/>
          <a:ln/>
        </p:spPr>
        <p:txBody>
          <a:bodyPr wrap="square" lIns="0" tIns="0" rIns="0" bIns="0" rtlCol="0" anchor="ctr"/>
          <a:lstStyle/>
          <a:p>
            <a:pPr marL="0" indent="0" algn="ctr">
              <a:buNone/>
            </a:pPr>
            <a:r>
              <a:rPr lang="en-US" sz="1200" b="1" dirty="0">
                <a:solidFill>
                  <a:schemeClr val="tx1"/>
                </a:solidFill>
              </a:rPr>
              <a:t>2</a:t>
            </a:r>
            <a:endParaRPr lang="en-US" sz="1200" dirty="0"/>
          </a:p>
        </p:txBody>
      </p:sp>
      <p:sp>
        <p:nvSpPr>
          <p:cNvPr id="10" name="Loop text 2"/>
          <p:cNvSpPr txBox="1"/>
          <p:nvPr/>
        </p:nvSpPr>
        <p:spPr>
          <a:xfrm>
            <a:off x="3246120" y="1353312"/>
            <a:ext cx="1417320" cy="768096"/>
          </a:xfrm>
          <a:prstGeom prst="rect">
            <a:avLst/>
          </a:prstGeom>
          <a:noFill/>
          <a:ln/>
        </p:spPr>
        <p:txBody>
          <a:bodyPr wrap="square" lIns="0" tIns="0" rIns="0" bIns="0" rtlCol="0" anchor="ctr"/>
          <a:lstStyle/>
          <a:p>
            <a:pPr marL="0" indent="0">
              <a:buNone/>
            </a:pPr>
            <a:r>
              <a:rPr lang="en-US" sz="1400" dirty="0">
                <a:solidFill>
                  <a:schemeClr val="bg1"/>
                </a:solidFill>
              </a:rPr>
              <a:t>Claude replies with tool calls, or with an answer</a:t>
            </a:r>
            <a:endParaRPr lang="en-US" sz="1400" dirty="0"/>
          </a:p>
        </p:txBody>
      </p:sp>
      <p:sp>
        <p:nvSpPr>
          <p:cNvPr id="11" name="Loop box 3"/>
          <p:cNvSpPr/>
          <p:nvPr/>
        </p:nvSpPr>
        <p:spPr>
          <a:xfrm>
            <a:off x="2788920" y="2651760"/>
            <a:ext cx="1965960" cy="914400"/>
          </a:xfrm>
          <a:prstGeom prst="roundRect">
            <a:avLst>
              <a:gd name="adj" fmla="val 8000"/>
            </a:avLst>
          </a:prstGeom>
          <a:solidFill>
            <a:schemeClr val="bg2"/>
          </a:solidFill>
          <a:ln w="12700">
            <a:solidFill>
              <a:schemeClr val="bg2"/>
            </a:solidFill>
            <a:prstDash val="solid"/>
          </a:ln>
        </p:spPr>
        <p:txBody>
          <a:bodyPr/>
          <a:lstStyle/>
          <a:p>
            <a:endParaRPr lang="en-US"/>
          </a:p>
        </p:txBody>
      </p:sp>
      <p:sp>
        <p:nvSpPr>
          <p:cNvPr id="12" name="Loop number bg 3"/>
          <p:cNvSpPr/>
          <p:nvPr/>
        </p:nvSpPr>
        <p:spPr>
          <a:xfrm>
            <a:off x="2898648" y="2761488"/>
            <a:ext cx="274320" cy="274320"/>
          </a:xfrm>
          <a:prstGeom prst="ellipse">
            <a:avLst/>
          </a:prstGeom>
          <a:solidFill>
            <a:schemeClr val="accent2"/>
          </a:solidFill>
          <a:ln w="12700">
            <a:solidFill>
              <a:schemeClr val="accent2"/>
            </a:solidFill>
            <a:prstDash val="solid"/>
          </a:ln>
        </p:spPr>
        <p:txBody>
          <a:bodyPr/>
          <a:lstStyle/>
          <a:p>
            <a:endParaRPr lang="en-US"/>
          </a:p>
        </p:txBody>
      </p:sp>
      <p:sp>
        <p:nvSpPr>
          <p:cNvPr id="13" name="Loop number 3"/>
          <p:cNvSpPr txBox="1"/>
          <p:nvPr/>
        </p:nvSpPr>
        <p:spPr>
          <a:xfrm>
            <a:off x="2898648" y="2761488"/>
            <a:ext cx="274320" cy="274320"/>
          </a:xfrm>
          <a:prstGeom prst="rect">
            <a:avLst/>
          </a:prstGeom>
          <a:noFill/>
          <a:ln/>
        </p:spPr>
        <p:txBody>
          <a:bodyPr wrap="square" lIns="0" tIns="0" rIns="0" bIns="0" rtlCol="0" anchor="ctr"/>
          <a:lstStyle/>
          <a:p>
            <a:pPr marL="0" indent="0" algn="ctr">
              <a:buNone/>
            </a:pPr>
            <a:r>
              <a:rPr lang="en-US" sz="1200" b="1" dirty="0">
                <a:solidFill>
                  <a:schemeClr val="tx1"/>
                </a:solidFill>
              </a:rPr>
              <a:t>3</a:t>
            </a:r>
            <a:endParaRPr lang="en-US" sz="1200" dirty="0"/>
          </a:p>
        </p:txBody>
      </p:sp>
      <p:sp>
        <p:nvSpPr>
          <p:cNvPr id="14" name="Loop text 3"/>
          <p:cNvSpPr txBox="1"/>
          <p:nvPr/>
        </p:nvSpPr>
        <p:spPr>
          <a:xfrm>
            <a:off x="3246120" y="2724912"/>
            <a:ext cx="1417320" cy="768096"/>
          </a:xfrm>
          <a:prstGeom prst="rect">
            <a:avLst/>
          </a:prstGeom>
          <a:noFill/>
          <a:ln/>
        </p:spPr>
        <p:txBody>
          <a:bodyPr wrap="square" lIns="0" tIns="0" rIns="0" bIns="0" rtlCol="0" anchor="ctr"/>
          <a:lstStyle/>
          <a:p>
            <a:pPr marL="0" indent="0">
              <a:buNone/>
            </a:pPr>
            <a:r>
              <a:rPr lang="en-US" sz="1400" dirty="0">
                <a:solidFill>
                  <a:schemeClr val="tx1"/>
                </a:solidFill>
              </a:rPr>
              <a:t>My code runs the tools it asked for</a:t>
            </a:r>
            <a:endParaRPr lang="en-US" sz="1400" dirty="0"/>
          </a:p>
        </p:txBody>
      </p:sp>
      <p:sp>
        <p:nvSpPr>
          <p:cNvPr id="15" name="Loop box 4"/>
          <p:cNvSpPr/>
          <p:nvPr/>
        </p:nvSpPr>
        <p:spPr>
          <a:xfrm>
            <a:off x="457200" y="2651760"/>
            <a:ext cx="1965960" cy="914400"/>
          </a:xfrm>
          <a:prstGeom prst="roundRect">
            <a:avLst>
              <a:gd name="adj" fmla="val 8000"/>
            </a:avLst>
          </a:prstGeom>
          <a:solidFill>
            <a:schemeClr val="bg2"/>
          </a:solidFill>
          <a:ln w="12700">
            <a:solidFill>
              <a:schemeClr val="bg2"/>
            </a:solidFill>
            <a:prstDash val="solid"/>
          </a:ln>
        </p:spPr>
        <p:txBody>
          <a:bodyPr/>
          <a:lstStyle/>
          <a:p>
            <a:endParaRPr lang="en-US"/>
          </a:p>
        </p:txBody>
      </p:sp>
      <p:sp>
        <p:nvSpPr>
          <p:cNvPr id="16" name="Loop number bg 4"/>
          <p:cNvSpPr/>
          <p:nvPr/>
        </p:nvSpPr>
        <p:spPr>
          <a:xfrm>
            <a:off x="566928" y="2761488"/>
            <a:ext cx="274320" cy="274320"/>
          </a:xfrm>
          <a:prstGeom prst="ellipse">
            <a:avLst/>
          </a:prstGeom>
          <a:solidFill>
            <a:schemeClr val="accent2"/>
          </a:solidFill>
          <a:ln w="12700">
            <a:solidFill>
              <a:schemeClr val="accent2"/>
            </a:solidFill>
            <a:prstDash val="solid"/>
          </a:ln>
        </p:spPr>
        <p:txBody>
          <a:bodyPr/>
          <a:lstStyle/>
          <a:p>
            <a:endParaRPr lang="en-US"/>
          </a:p>
        </p:txBody>
      </p:sp>
      <p:sp>
        <p:nvSpPr>
          <p:cNvPr id="17" name="Loop number 4"/>
          <p:cNvSpPr txBox="1"/>
          <p:nvPr/>
        </p:nvSpPr>
        <p:spPr>
          <a:xfrm>
            <a:off x="566928" y="2761488"/>
            <a:ext cx="274320" cy="274320"/>
          </a:xfrm>
          <a:prstGeom prst="rect">
            <a:avLst/>
          </a:prstGeom>
          <a:noFill/>
          <a:ln/>
        </p:spPr>
        <p:txBody>
          <a:bodyPr wrap="square" lIns="0" tIns="0" rIns="0" bIns="0" rtlCol="0" anchor="ctr"/>
          <a:lstStyle/>
          <a:p>
            <a:pPr marL="0" indent="0" algn="ctr">
              <a:buNone/>
            </a:pPr>
            <a:r>
              <a:rPr lang="en-US" sz="1200" b="1" dirty="0">
                <a:solidFill>
                  <a:schemeClr val="tx1"/>
                </a:solidFill>
              </a:rPr>
              <a:t>4</a:t>
            </a:r>
            <a:endParaRPr lang="en-US" sz="1200" dirty="0"/>
          </a:p>
        </p:txBody>
      </p:sp>
      <p:sp>
        <p:nvSpPr>
          <p:cNvPr id="18" name="Loop text 4"/>
          <p:cNvSpPr txBox="1"/>
          <p:nvPr/>
        </p:nvSpPr>
        <p:spPr>
          <a:xfrm>
            <a:off x="914400" y="2724912"/>
            <a:ext cx="1417320" cy="768096"/>
          </a:xfrm>
          <a:prstGeom prst="rect">
            <a:avLst/>
          </a:prstGeom>
          <a:noFill/>
          <a:ln/>
        </p:spPr>
        <p:txBody>
          <a:bodyPr wrap="square" lIns="0" tIns="0" rIns="0" bIns="0" rtlCol="0" anchor="ctr"/>
          <a:lstStyle/>
          <a:p>
            <a:pPr marL="0" indent="0">
              <a:buNone/>
            </a:pPr>
            <a:r>
              <a:rPr lang="en-US" sz="1400" dirty="0">
                <a:solidFill>
                  <a:schemeClr val="tx1"/>
                </a:solidFill>
              </a:rPr>
              <a:t>Results go back into the conversation</a:t>
            </a:r>
            <a:endParaRPr lang="en-US" sz="1400" dirty="0"/>
          </a:p>
        </p:txBody>
      </p:sp>
      <p:sp>
        <p:nvSpPr>
          <p:cNvPr id="19" name="Arrow 1-2"/>
          <p:cNvSpPr/>
          <p:nvPr/>
        </p:nvSpPr>
        <p:spPr>
          <a:xfrm>
            <a:off x="2468880" y="1737360"/>
            <a:ext cx="274320" cy="0"/>
          </a:xfrm>
          <a:prstGeom prst="line">
            <a:avLst/>
          </a:prstGeom>
          <a:noFill/>
          <a:ln w="22225">
            <a:solidFill>
              <a:schemeClr val="accent3"/>
            </a:solidFill>
            <a:prstDash val="solid"/>
            <a:tailEnd type="triangle"/>
          </a:ln>
        </p:spPr>
        <p:txBody>
          <a:bodyPr/>
          <a:lstStyle/>
          <a:p>
            <a:endParaRPr lang="en-US"/>
          </a:p>
        </p:txBody>
      </p:sp>
      <p:sp>
        <p:nvSpPr>
          <p:cNvPr id="20" name="Arrow 2-3"/>
          <p:cNvSpPr/>
          <p:nvPr/>
        </p:nvSpPr>
        <p:spPr>
          <a:xfrm>
            <a:off x="3771900" y="2240280"/>
            <a:ext cx="0" cy="365760"/>
          </a:xfrm>
          <a:prstGeom prst="line">
            <a:avLst/>
          </a:prstGeom>
          <a:noFill/>
          <a:ln w="22225">
            <a:solidFill>
              <a:schemeClr val="accent3"/>
            </a:solidFill>
            <a:prstDash val="solid"/>
            <a:tailEnd type="triangle"/>
          </a:ln>
        </p:spPr>
        <p:txBody>
          <a:bodyPr/>
          <a:lstStyle/>
          <a:p>
            <a:endParaRPr lang="en-US"/>
          </a:p>
        </p:txBody>
      </p:sp>
      <p:sp>
        <p:nvSpPr>
          <p:cNvPr id="21" name="Arrow 3-4"/>
          <p:cNvSpPr/>
          <p:nvPr/>
        </p:nvSpPr>
        <p:spPr>
          <a:xfrm>
            <a:off x="2468880" y="3108960"/>
            <a:ext cx="274320" cy="0"/>
          </a:xfrm>
          <a:prstGeom prst="line">
            <a:avLst/>
          </a:prstGeom>
          <a:noFill/>
          <a:ln w="22225">
            <a:solidFill>
              <a:schemeClr val="accent3"/>
            </a:solidFill>
            <a:prstDash val="solid"/>
            <a:headEnd type="triangle"/>
          </a:ln>
        </p:spPr>
        <p:txBody>
          <a:bodyPr/>
          <a:lstStyle/>
          <a:p>
            <a:endParaRPr lang="en-US"/>
          </a:p>
        </p:txBody>
      </p:sp>
      <p:sp>
        <p:nvSpPr>
          <p:cNvPr id="22" name="Arrow 4-1"/>
          <p:cNvSpPr/>
          <p:nvPr/>
        </p:nvSpPr>
        <p:spPr>
          <a:xfrm>
            <a:off x="1440180" y="2240280"/>
            <a:ext cx="0" cy="365760"/>
          </a:xfrm>
          <a:prstGeom prst="line">
            <a:avLst/>
          </a:prstGeom>
          <a:noFill/>
          <a:ln w="22225">
            <a:solidFill>
              <a:schemeClr val="accent3"/>
            </a:solidFill>
            <a:prstDash val="solid"/>
            <a:headEnd type="triangle"/>
          </a:ln>
        </p:spPr>
        <p:txBody>
          <a:bodyPr/>
          <a:lstStyle/>
          <a:p>
            <a:endParaRPr lang="en-US"/>
          </a:p>
        </p:txBody>
      </p:sp>
      <p:sp>
        <p:nvSpPr>
          <p:cNvPr id="23" name="Loop caption"/>
          <p:cNvSpPr txBox="1"/>
          <p:nvPr/>
        </p:nvSpPr>
        <p:spPr>
          <a:xfrm>
            <a:off x="457200" y="3749040"/>
            <a:ext cx="4297680" cy="548640"/>
          </a:xfrm>
          <a:prstGeom prst="rect">
            <a:avLst/>
          </a:prstGeom>
          <a:noFill/>
          <a:ln/>
        </p:spPr>
        <p:txBody>
          <a:bodyPr wrap="square" lIns="0" tIns="0" rIns="0" bIns="0" rtlCol="0" anchor="t"/>
          <a:lstStyle/>
          <a:p>
            <a:pPr marL="0" indent="0">
              <a:buNone/>
            </a:pPr>
            <a:r>
              <a:rPr lang="en-US" sz="1400" i="1" dirty="0">
                <a:solidFill>
                  <a:schemeClr val="accent3"/>
                </a:solidFill>
              </a:rPr>
              <a:t>Repeats until Claude answers without asking for a tool. Capped at 10 turns.</a:t>
            </a:r>
            <a:endParaRPr lang="en-US" sz="1400" dirty="0"/>
          </a:p>
        </p:txBody>
      </p:sp>
      <p:sp>
        <p:nvSpPr>
          <p:cNvPr id="24" name="Layer card Fetch"/>
          <p:cNvSpPr/>
          <p:nvPr/>
        </p:nvSpPr>
        <p:spPr>
          <a:xfrm>
            <a:off x="5120640" y="1280160"/>
            <a:ext cx="3566160" cy="914400"/>
          </a:xfrm>
          <a:prstGeom prst="roundRect">
            <a:avLst>
              <a:gd name="adj" fmla="val 8000"/>
            </a:avLst>
          </a:prstGeom>
          <a:solidFill>
            <a:schemeClr val="bg2"/>
          </a:solidFill>
          <a:ln w="12700">
            <a:solidFill>
              <a:schemeClr val="bg2"/>
            </a:solidFill>
            <a:prstDash val="solid"/>
          </a:ln>
        </p:spPr>
        <p:txBody>
          <a:bodyPr/>
          <a:lstStyle/>
          <a:p>
            <a:endParaRPr lang="en-US"/>
          </a:p>
        </p:txBody>
      </p:sp>
      <p:sp>
        <p:nvSpPr>
          <p:cNvPr id="25" name="Layer text Fetch"/>
          <p:cNvSpPr txBox="1"/>
          <p:nvPr/>
        </p:nvSpPr>
        <p:spPr>
          <a:xfrm>
            <a:off x="5285232" y="1335024"/>
            <a:ext cx="3246120" cy="804672"/>
          </a:xfrm>
          <a:prstGeom prst="rect">
            <a:avLst/>
          </a:prstGeom>
          <a:noFill/>
          <a:ln/>
        </p:spPr>
        <p:txBody>
          <a:bodyPr wrap="square" lIns="0" tIns="0" rIns="0" bIns="0" rtlCol="0" anchor="ctr"/>
          <a:lstStyle/>
          <a:p>
            <a:pPr marL="0" indent="0">
              <a:buNone/>
            </a:pPr>
            <a:r>
              <a:rPr lang="en-US" sz="1600" b="1" dirty="0">
                <a:solidFill>
                  <a:schemeClr val="accent1"/>
                </a:solidFill>
              </a:rPr>
              <a:t>Fetch</a:t>
            </a:r>
            <a:r>
              <a:rPr lang="en-US" sz="1200" dirty="0">
                <a:solidFill>
                  <a:schemeClr val="accent3"/>
                </a:solidFill>
                <a:latin typeface="Courier New" pitchFamily="34" charset="0"/>
                <a:ea typeface="Courier New" pitchFamily="34" charset="-122"/>
                <a:cs typeface="Courier New" pitchFamily="34" charset="-120"/>
              </a:rPr>
              <a:t>   lib/ingest/</a:t>
            </a:r>
            <a:endParaRPr lang="en-US" sz="1600" dirty="0"/>
          </a:p>
          <a:p>
            <a:pPr marL="0" indent="0">
              <a:buNone/>
            </a:pPr>
            <a:r>
              <a:rPr lang="en-US" sz="1400" dirty="0">
                <a:solidFill>
                  <a:schemeClr val="tx1"/>
                </a:solidFill>
              </a:rPr>
              <a:t>Pulls rosters, projections and trade values into a local database.</a:t>
            </a:r>
            <a:endParaRPr lang="en-US" sz="1600" dirty="0"/>
          </a:p>
        </p:txBody>
      </p:sp>
      <p:sp>
        <p:nvSpPr>
          <p:cNvPr id="26" name="Layer card Compute"/>
          <p:cNvSpPr/>
          <p:nvPr/>
        </p:nvSpPr>
        <p:spPr>
          <a:xfrm>
            <a:off x="5120640" y="2304288"/>
            <a:ext cx="3566160" cy="914400"/>
          </a:xfrm>
          <a:prstGeom prst="roundRect">
            <a:avLst>
              <a:gd name="adj" fmla="val 8000"/>
            </a:avLst>
          </a:prstGeom>
          <a:solidFill>
            <a:schemeClr val="bg2"/>
          </a:solidFill>
          <a:ln w="12700">
            <a:solidFill>
              <a:schemeClr val="bg2"/>
            </a:solidFill>
            <a:prstDash val="solid"/>
          </a:ln>
        </p:spPr>
        <p:txBody>
          <a:bodyPr/>
          <a:lstStyle/>
          <a:p>
            <a:endParaRPr lang="en-US"/>
          </a:p>
        </p:txBody>
      </p:sp>
      <p:sp>
        <p:nvSpPr>
          <p:cNvPr id="27" name="Layer text Compute"/>
          <p:cNvSpPr txBox="1"/>
          <p:nvPr/>
        </p:nvSpPr>
        <p:spPr>
          <a:xfrm>
            <a:off x="5285232" y="2359152"/>
            <a:ext cx="3246120" cy="804672"/>
          </a:xfrm>
          <a:prstGeom prst="rect">
            <a:avLst/>
          </a:prstGeom>
          <a:noFill/>
          <a:ln/>
        </p:spPr>
        <p:txBody>
          <a:bodyPr wrap="square" lIns="0" tIns="0" rIns="0" bIns="0" rtlCol="0" anchor="ctr"/>
          <a:lstStyle/>
          <a:p>
            <a:pPr marL="0" indent="0">
              <a:buNone/>
            </a:pPr>
            <a:r>
              <a:rPr lang="en-US" sz="1600" b="1" dirty="0">
                <a:solidFill>
                  <a:schemeClr val="accent1"/>
                </a:solidFill>
              </a:rPr>
              <a:t>Compute</a:t>
            </a:r>
            <a:r>
              <a:rPr lang="en-US" sz="1200" dirty="0">
                <a:solidFill>
                  <a:schemeClr val="accent3"/>
                </a:solidFill>
                <a:latin typeface="Courier New" pitchFamily="34" charset="0"/>
                <a:ea typeface="Courier New" pitchFamily="34" charset="-122"/>
                <a:cs typeface="Courier New" pitchFamily="34" charset="-120"/>
              </a:rPr>
              <a:t>   lib/features/</a:t>
            </a:r>
            <a:endParaRPr lang="en-US" sz="1600" dirty="0"/>
          </a:p>
          <a:p>
            <a:pPr marL="0" indent="0">
              <a:buNone/>
            </a:pPr>
            <a:r>
              <a:rPr lang="en-US" sz="1400" dirty="0">
                <a:solidFill>
                  <a:schemeClr val="tx1"/>
                </a:solidFill>
              </a:rPr>
              <a:t>Plain code with unit tests: lineup optimizer, bid ranges, trade values.</a:t>
            </a:r>
            <a:endParaRPr lang="en-US" sz="1600" dirty="0"/>
          </a:p>
        </p:txBody>
      </p:sp>
      <p:sp>
        <p:nvSpPr>
          <p:cNvPr id="28" name="Layer card Decide"/>
          <p:cNvSpPr/>
          <p:nvPr/>
        </p:nvSpPr>
        <p:spPr>
          <a:xfrm>
            <a:off x="5120640" y="3328416"/>
            <a:ext cx="3566160" cy="914400"/>
          </a:xfrm>
          <a:prstGeom prst="roundRect">
            <a:avLst>
              <a:gd name="adj" fmla="val 8000"/>
            </a:avLst>
          </a:prstGeom>
          <a:solidFill>
            <a:schemeClr val="tx2"/>
          </a:solidFill>
          <a:ln w="12700">
            <a:solidFill>
              <a:schemeClr val="tx2"/>
            </a:solidFill>
            <a:prstDash val="solid"/>
          </a:ln>
        </p:spPr>
        <p:txBody>
          <a:bodyPr/>
          <a:lstStyle/>
          <a:p>
            <a:endParaRPr lang="en-US"/>
          </a:p>
        </p:txBody>
      </p:sp>
      <p:sp>
        <p:nvSpPr>
          <p:cNvPr id="29" name="Layer text Decide"/>
          <p:cNvSpPr txBox="1"/>
          <p:nvPr/>
        </p:nvSpPr>
        <p:spPr>
          <a:xfrm>
            <a:off x="5285232" y="3383280"/>
            <a:ext cx="3246120" cy="804672"/>
          </a:xfrm>
          <a:prstGeom prst="rect">
            <a:avLst/>
          </a:prstGeom>
          <a:noFill/>
          <a:ln/>
        </p:spPr>
        <p:txBody>
          <a:bodyPr wrap="square" lIns="0" tIns="0" rIns="0" bIns="0" rtlCol="0" anchor="ctr"/>
          <a:lstStyle/>
          <a:p>
            <a:pPr marL="0" indent="0">
              <a:buNone/>
            </a:pPr>
            <a:r>
              <a:rPr lang="en-US" sz="1600" b="1" dirty="0">
                <a:solidFill>
                  <a:schemeClr val="accent2"/>
                </a:solidFill>
              </a:rPr>
              <a:t>Decide</a:t>
            </a:r>
            <a:r>
              <a:rPr lang="en-US" sz="1200" dirty="0">
                <a:solidFill>
                  <a:schemeClr val="accent5"/>
                </a:solidFill>
                <a:latin typeface="Courier New" pitchFamily="34" charset="0"/>
                <a:ea typeface="Courier New" pitchFamily="34" charset="-122"/>
                <a:cs typeface="Courier New" pitchFamily="34" charset="-120"/>
              </a:rPr>
              <a:t>   lib/agent/loop.ts</a:t>
            </a:r>
            <a:endParaRPr lang="en-US" sz="1600" dirty="0"/>
          </a:p>
          <a:p>
            <a:pPr marL="0" indent="0">
              <a:buNone/>
            </a:pPr>
            <a:r>
              <a:rPr lang="en-US" sz="1400" dirty="0">
                <a:solidFill>
                  <a:schemeClr val="bg1"/>
                </a:solidFill>
              </a:rPr>
              <a:t>Claude picks from 9 read-only tools and makes the call.</a:t>
            </a:r>
            <a:endParaRPr lang="en-US" sz="1600" dirty="0"/>
          </a:p>
        </p:txBody>
      </p:sp>
      <p:sp>
        <p:nvSpPr>
          <p:cNvPr id="30"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000" b="1" dirty="0">
                <a:solidFill>
                  <a:schemeClr val="tx2"/>
                </a:solidFill>
              </a:rPr>
              <a:t>What the agent decides</a:t>
            </a:r>
            <a:endParaRPr lang="en-US" sz="3000" dirty="0"/>
          </a:p>
        </p:txBody>
      </p:sp>
      <p:sp>
        <p:nvSpPr>
          <p:cNvPr id="3" name="Code card"/>
          <p:cNvSpPr/>
          <p:nvPr/>
        </p:nvSpPr>
        <p:spPr>
          <a:xfrm>
            <a:off x="457200" y="1234440"/>
            <a:ext cx="3977640" cy="2286000"/>
          </a:xfrm>
          <a:prstGeom prst="roundRect">
            <a:avLst>
              <a:gd name="adj" fmla="val 2400"/>
            </a:avLst>
          </a:prstGeom>
          <a:solidFill>
            <a:schemeClr val="bg2"/>
          </a:solidFill>
          <a:ln w="12700">
            <a:solidFill>
              <a:schemeClr val="bg2"/>
            </a:solidFill>
            <a:prstDash val="solid"/>
          </a:ln>
        </p:spPr>
        <p:txBody>
          <a:bodyPr/>
          <a:lstStyle/>
          <a:p>
            <a:endParaRPr lang="en-US"/>
          </a:p>
        </p:txBody>
      </p:sp>
      <p:sp>
        <p:nvSpPr>
          <p:cNvPr id="4" name="Code header"/>
          <p:cNvSpPr txBox="1"/>
          <p:nvPr/>
        </p:nvSpPr>
        <p:spPr>
          <a:xfrm>
            <a:off x="685800" y="1371600"/>
            <a:ext cx="3520440" cy="365760"/>
          </a:xfrm>
          <a:prstGeom prst="rect">
            <a:avLst/>
          </a:prstGeom>
          <a:noFill/>
          <a:ln/>
        </p:spPr>
        <p:txBody>
          <a:bodyPr wrap="square" lIns="0" tIns="0" rIns="0" bIns="0" rtlCol="0" anchor="ctr"/>
          <a:lstStyle/>
          <a:p>
            <a:pPr marL="0" indent="0">
              <a:buNone/>
            </a:pPr>
            <a:r>
              <a:rPr lang="en-US" sz="1800" b="1" dirty="0">
                <a:solidFill>
                  <a:schemeClr val="accent1"/>
                </a:solidFill>
              </a:rPr>
              <a:t>My code computes</a:t>
            </a:r>
            <a:endParaRPr lang="en-US" sz="1800" dirty="0"/>
          </a:p>
        </p:txBody>
      </p:sp>
      <p:sp>
        <p:nvSpPr>
          <p:cNvPr id="5" name="Code list"/>
          <p:cNvSpPr txBox="1"/>
          <p:nvPr/>
        </p:nvSpPr>
        <p:spPr>
          <a:xfrm>
            <a:off x="685800" y="1810512"/>
            <a:ext cx="3520440" cy="1600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The best lineup from the projections</a:t>
            </a:r>
            <a:endParaRPr lang="en-US" sz="1400" dirty="0"/>
          </a:p>
          <a:p>
            <a:pPr marL="342900" indent="-342900">
              <a:spcAft>
                <a:spcPts val="800"/>
              </a:spcAft>
              <a:buSzPct val="100000"/>
              <a:buChar char="•"/>
            </a:pPr>
            <a:r>
              <a:rPr lang="en-US" sz="1400" dirty="0">
                <a:solidFill>
                  <a:schemeClr val="tx1"/>
                </a:solidFill>
              </a:rPr>
              <a:t>A bid range from the league's real past bids</a:t>
            </a:r>
            <a:endParaRPr lang="en-US" sz="1400" dirty="0"/>
          </a:p>
          <a:p>
            <a:pPr marL="342900" indent="-342900">
              <a:spcAft>
                <a:spcPts val="800"/>
              </a:spcAft>
              <a:buSzPct val="100000"/>
              <a:buChar char="•"/>
            </a:pPr>
            <a:r>
              <a:rPr lang="en-US" sz="1400" dirty="0">
                <a:solidFill>
                  <a:schemeClr val="tx1"/>
                </a:solidFill>
              </a:rPr>
              <a:t>Trade value totals for each side</a:t>
            </a:r>
            <a:endParaRPr lang="en-US" sz="1400" dirty="0"/>
          </a:p>
          <a:p>
            <a:pPr marL="342900" indent="-342900">
              <a:spcAft>
                <a:spcPts val="800"/>
              </a:spcAft>
              <a:buSzPct val="100000"/>
              <a:buChar char="•"/>
            </a:pPr>
            <a:r>
              <a:rPr lang="en-US" sz="1400" dirty="0">
                <a:solidFill>
                  <a:schemeClr val="tx1"/>
                </a:solidFill>
              </a:rPr>
              <a:t>The odds of winning this week's matchup</a:t>
            </a:r>
            <a:endParaRPr lang="en-US" sz="1400" dirty="0"/>
          </a:p>
        </p:txBody>
      </p:sp>
      <p:sp>
        <p:nvSpPr>
          <p:cNvPr id="6" name="Model card"/>
          <p:cNvSpPr/>
          <p:nvPr/>
        </p:nvSpPr>
        <p:spPr>
          <a:xfrm>
            <a:off x="4709160" y="1234440"/>
            <a:ext cx="3977640" cy="2286000"/>
          </a:xfrm>
          <a:prstGeom prst="roundRect">
            <a:avLst>
              <a:gd name="adj" fmla="val 2400"/>
            </a:avLst>
          </a:prstGeom>
          <a:solidFill>
            <a:schemeClr val="tx2"/>
          </a:solidFill>
          <a:ln w="12700">
            <a:solidFill>
              <a:schemeClr val="tx2"/>
            </a:solidFill>
            <a:prstDash val="solid"/>
          </a:ln>
        </p:spPr>
        <p:txBody>
          <a:bodyPr/>
          <a:lstStyle/>
          <a:p>
            <a:endParaRPr lang="en-US"/>
          </a:p>
        </p:txBody>
      </p:sp>
      <p:sp>
        <p:nvSpPr>
          <p:cNvPr id="7" name="Model header"/>
          <p:cNvSpPr txBox="1"/>
          <p:nvPr/>
        </p:nvSpPr>
        <p:spPr>
          <a:xfrm>
            <a:off x="4937760" y="1371600"/>
            <a:ext cx="3520440" cy="365760"/>
          </a:xfrm>
          <a:prstGeom prst="rect">
            <a:avLst/>
          </a:prstGeom>
          <a:noFill/>
          <a:ln/>
        </p:spPr>
        <p:txBody>
          <a:bodyPr wrap="square" lIns="0" tIns="0" rIns="0" bIns="0" rtlCol="0" anchor="ctr"/>
          <a:lstStyle/>
          <a:p>
            <a:pPr marL="0" indent="0">
              <a:buNone/>
            </a:pPr>
            <a:r>
              <a:rPr lang="en-US" sz="1800" b="1" dirty="0">
                <a:solidFill>
                  <a:schemeClr val="accent2"/>
                </a:solidFill>
              </a:rPr>
              <a:t>Claude decides</a:t>
            </a:r>
            <a:endParaRPr lang="en-US" sz="1800" dirty="0"/>
          </a:p>
        </p:txBody>
      </p:sp>
      <p:sp>
        <p:nvSpPr>
          <p:cNvPr id="8" name="Model list"/>
          <p:cNvSpPr txBox="1"/>
          <p:nvPr/>
        </p:nvSpPr>
        <p:spPr>
          <a:xfrm>
            <a:off x="4937760" y="1810512"/>
            <a:ext cx="3520440" cy="1600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Which tools to call, in what order, and when to stop</a:t>
            </a:r>
            <a:endParaRPr lang="en-US" sz="1400" dirty="0"/>
          </a:p>
          <a:p>
            <a:pPr marL="342900" indent="-342900">
              <a:spcAft>
                <a:spcPts val="800"/>
              </a:spcAft>
              <a:buSzPct val="100000"/>
              <a:buChar char="•"/>
            </a:pPr>
            <a:r>
              <a:rPr lang="en-US" sz="1400" dirty="0">
                <a:solidFill>
                  <a:schemeClr val="bg1"/>
                </a:solidFill>
              </a:rPr>
              <a:t>Which league is in the most trouble</a:t>
            </a:r>
            <a:endParaRPr lang="en-US" sz="1400" dirty="0"/>
          </a:p>
          <a:p>
            <a:pPr marL="342900" indent="-342900">
              <a:spcAft>
                <a:spcPts val="800"/>
              </a:spcAft>
              <a:buSzPct val="100000"/>
              <a:buChar char="•"/>
            </a:pPr>
            <a:r>
              <a:rPr lang="en-US" sz="1400" dirty="0">
                <a:solidFill>
                  <a:schemeClr val="bg1"/>
                </a:solidFill>
              </a:rPr>
              <a:t>Whether a pickup is a real upgrade, and who to drop</a:t>
            </a:r>
            <a:endParaRPr lang="en-US" sz="1400" dirty="0"/>
          </a:p>
          <a:p>
            <a:pPr marL="342900" indent="-342900">
              <a:spcAft>
                <a:spcPts val="800"/>
              </a:spcAft>
              <a:buSzPct val="100000"/>
              <a:buChar char="•"/>
            </a:pPr>
            <a:r>
              <a:rPr lang="en-US" sz="1400" dirty="0">
                <a:solidFill>
                  <a:schemeClr val="bg1"/>
                </a:solidFill>
              </a:rPr>
              <a:t>What to check next after each result</a:t>
            </a:r>
            <a:endParaRPr lang="en-US" sz="1400" dirty="0"/>
          </a:p>
        </p:txBody>
      </p:sp>
      <p:sp>
        <p:nvSpPr>
          <p:cNvPr id="9" name="Script vs agent"/>
          <p:cNvSpPr txBox="1"/>
          <p:nvPr/>
        </p:nvSpPr>
        <p:spPr>
          <a:xfrm>
            <a:off x="457200" y="3703320"/>
            <a:ext cx="7680960" cy="868680"/>
          </a:xfrm>
          <a:prstGeom prst="rect">
            <a:avLst/>
          </a:prstGeom>
          <a:noFill/>
          <a:ln/>
        </p:spPr>
        <p:txBody>
          <a:bodyPr wrap="square" lIns="0" tIns="0" rIns="0" bIns="0" rtlCol="0" anchor="t"/>
          <a:lstStyle/>
          <a:p>
            <a:pPr marL="0" indent="0">
              <a:buNone/>
            </a:pPr>
            <a:r>
              <a:rPr lang="en-US" sz="1400" b="1" dirty="0">
                <a:solidFill>
                  <a:schemeClr val="tx2"/>
                </a:solidFill>
              </a:rPr>
              <a:t>Could I write every step down in advance?  </a:t>
            </a:r>
            <a:r>
              <a:rPr lang="en-US" sz="1400" dirty="0">
                <a:solidFill>
                  <a:schemeClr val="tx1"/>
                </a:solidFill>
              </a:rPr>
              <a:t>For a fixed weekly check, yes: that was my first version, a pipeline with one summary call. For an open question, no: the next step depends on what the last tool returned.</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000" b="1" dirty="0">
                <a:solidFill>
                  <a:schemeClr val="bg1"/>
                </a:solidFill>
              </a:rPr>
              <a:t>Live demo: one question, one command</a:t>
            </a:r>
            <a:endParaRPr lang="en-US" sz="3000" dirty="0"/>
          </a:p>
        </p:txBody>
      </p:sp>
      <p:sp>
        <p:nvSpPr>
          <p:cNvPr id="3" name="Question card"/>
          <p:cNvSpPr/>
          <p:nvPr/>
        </p:nvSpPr>
        <p:spPr>
          <a:xfrm>
            <a:off x="457200" y="1188720"/>
            <a:ext cx="8229600" cy="1188720"/>
          </a:xfrm>
          <a:prstGeom prst="roundRect">
            <a:avLst>
              <a:gd name="adj" fmla="val 4615"/>
            </a:avLst>
          </a:prstGeom>
          <a:solidFill>
            <a:schemeClr val="accent4"/>
          </a:solidFill>
          <a:ln w="12700">
            <a:solidFill>
              <a:schemeClr val="accent4"/>
            </a:solidFill>
            <a:prstDash val="solid"/>
          </a:ln>
        </p:spPr>
        <p:txBody>
          <a:bodyPr/>
          <a:lstStyle/>
          <a:p>
            <a:endParaRPr lang="en-US"/>
          </a:p>
        </p:txBody>
      </p:sp>
      <p:sp>
        <p:nvSpPr>
          <p:cNvPr id="4" name="Question"/>
          <p:cNvSpPr txBox="1"/>
          <p:nvPr/>
        </p:nvSpPr>
        <p:spPr>
          <a:xfrm>
            <a:off x="685800" y="1261872"/>
            <a:ext cx="7772400" cy="1042416"/>
          </a:xfrm>
          <a:prstGeom prst="rect">
            <a:avLst/>
          </a:prstGeom>
          <a:noFill/>
          <a:ln/>
        </p:spPr>
        <p:txBody>
          <a:bodyPr wrap="square" lIns="0" tIns="0" rIns="0" bIns="0" rtlCol="0" anchor="ctr"/>
          <a:lstStyle/>
          <a:p>
            <a:pPr marL="0" indent="0">
              <a:buNone/>
            </a:pPr>
            <a:r>
              <a:rPr lang="en-US" sz="1600" i="1" dirty="0">
                <a:solidFill>
                  <a:schemeClr val="bg1"/>
                </a:solidFill>
              </a:rPr>
              <a:t>“Week 5 is almost over, so get me ready for Week 6. Find the league where I'm in the most trouble next week. Then fix it: set my best lineup, find a waiver pickup for my weakest starting spot with a bid and who to drop, and check the news on anyone you recommend.”</a:t>
            </a:r>
            <a:endParaRPr lang="en-US" sz="1600" dirty="0"/>
          </a:p>
        </p:txBody>
      </p:sp>
      <p:sp>
        <p:nvSpPr>
          <p:cNvPr id="5" name="Command"/>
          <p:cNvSpPr txBox="1"/>
          <p:nvPr/>
        </p:nvSpPr>
        <p:spPr>
          <a:xfrm>
            <a:off x="457200" y="2560320"/>
            <a:ext cx="8229600" cy="365760"/>
          </a:xfrm>
          <a:prstGeom prst="rect">
            <a:avLst/>
          </a:prstGeom>
          <a:noFill/>
          <a:ln/>
        </p:spPr>
        <p:txBody>
          <a:bodyPr wrap="square" lIns="0" tIns="0" rIns="0" bIns="0" rtlCol="0" anchor="ctr"/>
          <a:lstStyle/>
          <a:p>
            <a:pPr marL="0" indent="0">
              <a:buNone/>
            </a:pPr>
            <a:r>
              <a:rPr lang="en-US" sz="1600" b="1" dirty="0">
                <a:solidFill>
                  <a:schemeClr val="accent2"/>
                </a:solidFill>
                <a:latin typeface="Courier New" pitchFamily="34" charset="0"/>
                <a:ea typeface="Courier New" pitchFamily="34" charset="-122"/>
                <a:cs typeface="Courier New" pitchFamily="34" charset="-120"/>
              </a:rPr>
              <a:t>npx tsx scripts/agent-check.ts</a:t>
            </a:r>
            <a:endParaRPr lang="en-US" sz="1600" dirty="0"/>
          </a:p>
        </p:txBody>
      </p:sp>
      <p:sp>
        <p:nvSpPr>
          <p:cNvPr id="6" name="Legend circle 1"/>
          <p:cNvSpPr/>
          <p:nvPr/>
        </p:nvSpPr>
        <p:spPr>
          <a:xfrm>
            <a:off x="457200" y="3200400"/>
            <a:ext cx="548640" cy="548640"/>
          </a:xfrm>
          <a:prstGeom prst="ellipse">
            <a:avLst/>
          </a:prstGeom>
          <a:solidFill>
            <a:schemeClr val="accent4"/>
          </a:solidFill>
          <a:ln w="12700">
            <a:solidFill>
              <a:schemeClr val="accent4"/>
            </a:solidFill>
            <a:prstDash val="solid"/>
          </a:ln>
        </p:spPr>
        <p:txBody>
          <a:bodyPr/>
          <a:lstStyle/>
          <a:p>
            <a:endParaRPr lang="en-US"/>
          </a:p>
        </p:txBody>
      </p:sp>
      <p:sp>
        <p:nvSpPr>
          <p:cNvPr id="7" name="Legend icon 1"/>
          <p:cNvSpPr txBox="1"/>
          <p:nvPr/>
        </p:nvSpPr>
        <p:spPr>
          <a:xfrm>
            <a:off x="457200" y="3200400"/>
            <a:ext cx="548640" cy="548640"/>
          </a:xfrm>
          <a:prstGeom prst="rect">
            <a:avLst/>
          </a:prstGeom>
          <a:noFill/>
          <a:ln/>
        </p:spPr>
        <p:txBody>
          <a:bodyPr wrap="square" lIns="0" tIns="0" rIns="0" bIns="0" rtlCol="0" anchor="ctr"/>
          <a:lstStyle/>
          <a:p>
            <a:pPr marL="0" indent="0" algn="ctr">
              <a:buNone/>
            </a:pPr>
            <a:r>
              <a:rPr lang="en-US" sz="2000" b="1" dirty="0">
                <a:solidFill>
                  <a:schemeClr val="accent2"/>
                </a:solidFill>
              </a:rPr>
              <a:t>🧠</a:t>
            </a:r>
            <a:endParaRPr lang="en-US" sz="2000" dirty="0"/>
          </a:p>
        </p:txBody>
      </p:sp>
      <p:sp>
        <p:nvSpPr>
          <p:cNvPr id="8" name="Legend text 1"/>
          <p:cNvSpPr txBox="1"/>
          <p:nvPr/>
        </p:nvSpPr>
        <p:spPr>
          <a:xfrm>
            <a:off x="1143000" y="3108960"/>
            <a:ext cx="1965960" cy="822960"/>
          </a:xfrm>
          <a:prstGeom prst="rect">
            <a:avLst/>
          </a:prstGeom>
          <a:noFill/>
          <a:ln/>
        </p:spPr>
        <p:txBody>
          <a:bodyPr wrap="square" lIns="0" tIns="0" rIns="0" bIns="0" rtlCol="0" anchor="ctr"/>
          <a:lstStyle/>
          <a:p>
            <a:pPr marL="0" indent="0">
              <a:buNone/>
            </a:pPr>
            <a:r>
              <a:rPr lang="en-US" sz="1600" b="1" dirty="0">
                <a:solidFill>
                  <a:schemeClr val="bg1"/>
                </a:solidFill>
              </a:rPr>
              <a:t>The plan</a:t>
            </a:r>
            <a:endParaRPr lang="en-US" sz="1600" dirty="0"/>
          </a:p>
          <a:p>
            <a:pPr marL="0" indent="0">
              <a:buNone/>
            </a:pPr>
            <a:r>
              <a:rPr lang="en-US" sz="1400" dirty="0">
                <a:solidFill>
                  <a:schemeClr val="accent5"/>
                </a:solidFill>
              </a:rPr>
              <a:t>what it decided to check this turn</a:t>
            </a:r>
            <a:endParaRPr lang="en-US" sz="1600" dirty="0"/>
          </a:p>
        </p:txBody>
      </p:sp>
      <p:sp>
        <p:nvSpPr>
          <p:cNvPr id="9" name="Legend circle 2"/>
          <p:cNvSpPr/>
          <p:nvPr/>
        </p:nvSpPr>
        <p:spPr>
          <a:xfrm>
            <a:off x="3246120" y="3200400"/>
            <a:ext cx="548640" cy="548640"/>
          </a:xfrm>
          <a:prstGeom prst="ellipse">
            <a:avLst/>
          </a:prstGeom>
          <a:solidFill>
            <a:schemeClr val="accent4"/>
          </a:solidFill>
          <a:ln w="12700">
            <a:solidFill>
              <a:schemeClr val="accent4"/>
            </a:solidFill>
            <a:prstDash val="solid"/>
          </a:ln>
        </p:spPr>
        <p:txBody>
          <a:bodyPr/>
          <a:lstStyle/>
          <a:p>
            <a:endParaRPr lang="en-US"/>
          </a:p>
        </p:txBody>
      </p:sp>
      <p:sp>
        <p:nvSpPr>
          <p:cNvPr id="10" name="Legend icon 2"/>
          <p:cNvSpPr txBox="1"/>
          <p:nvPr/>
        </p:nvSpPr>
        <p:spPr>
          <a:xfrm>
            <a:off x="3246120" y="3200400"/>
            <a:ext cx="548640" cy="548640"/>
          </a:xfrm>
          <a:prstGeom prst="rect">
            <a:avLst/>
          </a:prstGeom>
          <a:noFill/>
          <a:ln/>
        </p:spPr>
        <p:txBody>
          <a:bodyPr wrap="square" lIns="0" tIns="0" rIns="0" bIns="0" rtlCol="0" anchor="ctr"/>
          <a:lstStyle/>
          <a:p>
            <a:pPr marL="0" indent="0" algn="ctr">
              <a:buNone/>
            </a:pPr>
            <a:r>
              <a:rPr lang="en-US" sz="2000" b="1" dirty="0">
                <a:solidFill>
                  <a:schemeClr val="accent2"/>
                </a:solidFill>
              </a:rPr>
              <a:t>🔧</a:t>
            </a:r>
            <a:endParaRPr lang="en-US" sz="2000" dirty="0"/>
          </a:p>
        </p:txBody>
      </p:sp>
      <p:sp>
        <p:nvSpPr>
          <p:cNvPr id="11" name="Legend text 2"/>
          <p:cNvSpPr txBox="1"/>
          <p:nvPr/>
        </p:nvSpPr>
        <p:spPr>
          <a:xfrm>
            <a:off x="3931920" y="3108960"/>
            <a:ext cx="1965960" cy="822960"/>
          </a:xfrm>
          <a:prstGeom prst="rect">
            <a:avLst/>
          </a:prstGeom>
          <a:noFill/>
          <a:ln/>
        </p:spPr>
        <p:txBody>
          <a:bodyPr wrap="square" lIns="0" tIns="0" rIns="0" bIns="0" rtlCol="0" anchor="ctr"/>
          <a:lstStyle/>
          <a:p>
            <a:pPr marL="0" indent="0">
              <a:buNone/>
            </a:pPr>
            <a:r>
              <a:rPr lang="en-US" sz="1600" b="1" dirty="0">
                <a:solidFill>
                  <a:schemeClr val="bg1"/>
                </a:solidFill>
              </a:rPr>
              <a:t>The tools</a:t>
            </a:r>
            <a:endParaRPr lang="en-US" sz="1600" dirty="0"/>
          </a:p>
          <a:p>
            <a:pPr marL="0" indent="0">
              <a:buNone/>
            </a:pPr>
            <a:r>
              <a:rPr lang="en-US" sz="1400" dirty="0">
                <a:solidFill>
                  <a:schemeClr val="accent5"/>
                </a:solidFill>
              </a:rPr>
              <a:t>which ones it chose, often several at once</a:t>
            </a:r>
            <a:endParaRPr lang="en-US" sz="1600" dirty="0"/>
          </a:p>
        </p:txBody>
      </p:sp>
      <p:sp>
        <p:nvSpPr>
          <p:cNvPr id="12" name="Legend circle 3"/>
          <p:cNvSpPr/>
          <p:nvPr/>
        </p:nvSpPr>
        <p:spPr>
          <a:xfrm>
            <a:off x="6035040" y="3200400"/>
            <a:ext cx="548640" cy="548640"/>
          </a:xfrm>
          <a:prstGeom prst="ellipse">
            <a:avLst/>
          </a:prstGeom>
          <a:solidFill>
            <a:schemeClr val="accent4"/>
          </a:solidFill>
          <a:ln w="12700">
            <a:solidFill>
              <a:schemeClr val="accent4"/>
            </a:solidFill>
            <a:prstDash val="solid"/>
          </a:ln>
        </p:spPr>
        <p:txBody>
          <a:bodyPr/>
          <a:lstStyle/>
          <a:p>
            <a:endParaRPr lang="en-US"/>
          </a:p>
        </p:txBody>
      </p:sp>
      <p:sp>
        <p:nvSpPr>
          <p:cNvPr id="13" name="Legend icon 3"/>
          <p:cNvSpPr txBox="1"/>
          <p:nvPr/>
        </p:nvSpPr>
        <p:spPr>
          <a:xfrm>
            <a:off x="6035040" y="3200400"/>
            <a:ext cx="548640" cy="548640"/>
          </a:xfrm>
          <a:prstGeom prst="rect">
            <a:avLst/>
          </a:prstGeom>
          <a:noFill/>
          <a:ln/>
        </p:spPr>
        <p:txBody>
          <a:bodyPr wrap="square" lIns="0" tIns="0" rIns="0" bIns="0" rtlCol="0" anchor="ctr"/>
          <a:lstStyle/>
          <a:p>
            <a:pPr marL="0" indent="0" algn="ctr">
              <a:buNone/>
            </a:pPr>
            <a:r>
              <a:rPr lang="en-US" sz="2000" b="1" dirty="0">
                <a:solidFill>
                  <a:schemeClr val="accent2"/>
                </a:solidFill>
              </a:rPr>
              <a:t>↳</a:t>
            </a:r>
            <a:endParaRPr lang="en-US" sz="2000" dirty="0"/>
          </a:p>
        </p:txBody>
      </p:sp>
      <p:sp>
        <p:nvSpPr>
          <p:cNvPr id="14" name="Legend text 3"/>
          <p:cNvSpPr txBox="1"/>
          <p:nvPr/>
        </p:nvSpPr>
        <p:spPr>
          <a:xfrm>
            <a:off x="6720840" y="3108960"/>
            <a:ext cx="1965960" cy="822960"/>
          </a:xfrm>
          <a:prstGeom prst="rect">
            <a:avLst/>
          </a:prstGeom>
          <a:noFill/>
          <a:ln/>
        </p:spPr>
        <p:txBody>
          <a:bodyPr wrap="square" lIns="0" tIns="0" rIns="0" bIns="0" rtlCol="0" anchor="ctr"/>
          <a:lstStyle/>
          <a:p>
            <a:pPr marL="0" indent="0">
              <a:buNone/>
            </a:pPr>
            <a:r>
              <a:rPr lang="en-US" sz="1600" b="1" dirty="0">
                <a:solidFill>
                  <a:schemeClr val="bg1"/>
                </a:solidFill>
              </a:rPr>
              <a:t>The results</a:t>
            </a:r>
            <a:endParaRPr lang="en-US" sz="1600" dirty="0"/>
          </a:p>
          <a:p>
            <a:pPr marL="0" indent="0">
              <a:buNone/>
            </a:pPr>
            <a:r>
              <a:rPr lang="en-US" sz="1400" dirty="0">
                <a:solidFill>
                  <a:schemeClr val="accent5"/>
                </a:solidFill>
              </a:rPr>
              <a:t>what came back from my code</a:t>
            </a:r>
            <a:endParaRPr lang="en-US" sz="1600" dirty="0"/>
          </a:p>
        </p:txBody>
      </p:sp>
      <p:sp>
        <p:nvSpPr>
          <p:cNvPr id="15" name="Demo caption"/>
          <p:cNvSpPr txBox="1"/>
          <p:nvPr/>
        </p:nvSpPr>
        <p:spPr>
          <a:xfrm>
            <a:off x="457200" y="4206240"/>
            <a:ext cx="7680960" cy="365760"/>
          </a:xfrm>
          <a:prstGeom prst="rect">
            <a:avLst/>
          </a:prstGeom>
          <a:noFill/>
          <a:ln/>
        </p:spPr>
        <p:txBody>
          <a:bodyPr wrap="square" lIns="0" tIns="0" rIns="0" bIns="0" rtlCol="0" anchor="ctr"/>
          <a:lstStyle/>
          <a:p>
            <a:pPr marL="0" indent="0">
              <a:buNone/>
            </a:pPr>
            <a:r>
              <a:rPr lang="en-US" sz="1400" i="1" dirty="0">
                <a:solidFill>
                  <a:schemeClr val="accent5"/>
                </a:solidFill>
              </a:rPr>
              <a:t>About 25 seconds, 5 to 7 turns. Nobody programmed the sequence, and it changes from run to run.</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731520"/>
          </a:xfrm>
          <a:prstGeom prst="rect">
            <a:avLst/>
          </a:prstGeom>
          <a:noFill/>
          <a:ln/>
        </p:spPr>
        <p:txBody>
          <a:bodyPr wrap="square" lIns="0" tIns="0" rIns="0" bIns="0" rtlCol="0" anchor="ctr"/>
          <a:lstStyle/>
          <a:p>
            <a:pPr marL="0" indent="0" algn="l">
              <a:buNone/>
            </a:pPr>
            <a:r>
              <a:rPr lang="en-US" sz="3000" b="1" dirty="0">
                <a:solidFill>
                  <a:schemeClr val="tx2"/>
                </a:solidFill>
              </a:rPr>
              <a:t>What testing caught, and what's next</a:t>
            </a:r>
            <a:endParaRPr lang="en-US" sz="3000" dirty="0"/>
          </a:p>
        </p:txBody>
      </p:sp>
      <p:sp>
        <p:nvSpPr>
          <p:cNvPr id="3" name="Caught by testing card"/>
          <p:cNvSpPr/>
          <p:nvPr/>
        </p:nvSpPr>
        <p:spPr>
          <a:xfrm>
            <a:off x="457200" y="1234440"/>
            <a:ext cx="2651760" cy="3108960"/>
          </a:xfrm>
          <a:prstGeom prst="roundRect">
            <a:avLst>
              <a:gd name="adj" fmla="val 2069"/>
            </a:avLst>
          </a:prstGeom>
          <a:solidFill>
            <a:schemeClr val="bg2"/>
          </a:solidFill>
          <a:ln w="12700">
            <a:solidFill>
              <a:schemeClr val="bg2"/>
            </a:solidFill>
            <a:prstDash val="solid"/>
          </a:ln>
        </p:spPr>
        <p:txBody>
          <a:bodyPr/>
          <a:lstStyle/>
          <a:p>
            <a:endParaRPr lang="en-US"/>
          </a:p>
        </p:txBody>
      </p:sp>
      <p:sp>
        <p:nvSpPr>
          <p:cNvPr id="4" name="Caught by testing marker"/>
          <p:cNvSpPr/>
          <p:nvPr/>
        </p:nvSpPr>
        <p:spPr>
          <a:xfrm>
            <a:off x="658368" y="1444752"/>
            <a:ext cx="182880" cy="182880"/>
          </a:xfrm>
          <a:prstGeom prst="ellipse">
            <a:avLst/>
          </a:prstGeom>
          <a:solidFill>
            <a:schemeClr val="accent2"/>
          </a:solidFill>
          <a:ln w="12700">
            <a:solidFill>
              <a:schemeClr val="accent2"/>
            </a:solidFill>
            <a:prstDash val="solid"/>
          </a:ln>
        </p:spPr>
        <p:txBody>
          <a:bodyPr/>
          <a:lstStyle/>
          <a:p>
            <a:endParaRPr lang="en-US"/>
          </a:p>
        </p:txBody>
      </p:sp>
      <p:sp>
        <p:nvSpPr>
          <p:cNvPr id="5" name="Caught by testing header"/>
          <p:cNvSpPr txBox="1"/>
          <p:nvPr/>
        </p:nvSpPr>
        <p:spPr>
          <a:xfrm>
            <a:off x="932688" y="1353312"/>
            <a:ext cx="2011680" cy="365760"/>
          </a:xfrm>
          <a:prstGeom prst="rect">
            <a:avLst/>
          </a:prstGeom>
          <a:noFill/>
          <a:ln/>
        </p:spPr>
        <p:txBody>
          <a:bodyPr wrap="square" lIns="0" tIns="0" rIns="0" bIns="0" rtlCol="0" anchor="ctr"/>
          <a:lstStyle/>
          <a:p>
            <a:pPr marL="0" indent="0">
              <a:buNone/>
            </a:pPr>
            <a:r>
              <a:rPr lang="en-US" sz="1800" b="1" dirty="0">
                <a:solidFill>
                  <a:schemeClr val="accent1"/>
                </a:solidFill>
              </a:rPr>
              <a:t>Caught by testing</a:t>
            </a:r>
            <a:endParaRPr lang="en-US" sz="1800" dirty="0"/>
          </a:p>
        </p:txBody>
      </p:sp>
      <p:sp>
        <p:nvSpPr>
          <p:cNvPr id="6" name="Caught by testing list"/>
          <p:cNvSpPr txBox="1"/>
          <p:nvPr/>
        </p:nvSpPr>
        <p:spPr>
          <a:xfrm>
            <a:off x="658368" y="1874520"/>
            <a:ext cx="2286000" cy="246888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Backtest: waiver bids were 10 to 15x too high, so I recalibrated them</a:t>
            </a:r>
            <a:endParaRPr lang="en-US" sz="1400" dirty="0"/>
          </a:p>
          <a:p>
            <a:pPr marL="342900" indent="-342900">
              <a:spcAft>
                <a:spcPts val="1000"/>
              </a:spcAft>
              <a:buSzPct val="100000"/>
              <a:buChar char="•"/>
            </a:pPr>
            <a:r>
              <a:rPr lang="en-US" sz="1400" dirty="0">
                <a:solidFill>
                  <a:schemeClr val="tx1"/>
                </a:solidFill>
              </a:rPr>
              <a:t>Evals: Haiku passed 4 of 9; Sonnet 6 to 9 of 9 across runs</a:t>
            </a:r>
            <a:endParaRPr lang="en-US" sz="1400" dirty="0"/>
          </a:p>
          <a:p>
            <a:pPr marL="342900" indent="-342900">
              <a:spcAft>
                <a:spcPts val="1000"/>
              </a:spcAft>
              <a:buSzPct val="100000"/>
              <a:buChar char="•"/>
            </a:pPr>
            <a:r>
              <a:rPr lang="en-US" sz="1400" dirty="0">
                <a:solidFill>
                  <a:schemeClr val="tx1"/>
                </a:solidFill>
              </a:rPr>
              <a:t>A dry run gave advice on stale rosters; tools now re-sync first</a:t>
            </a:r>
            <a:endParaRPr lang="en-US" sz="1400" dirty="0"/>
          </a:p>
        </p:txBody>
      </p:sp>
      <p:sp>
        <p:nvSpPr>
          <p:cNvPr id="7" name="Limits today card"/>
          <p:cNvSpPr/>
          <p:nvPr/>
        </p:nvSpPr>
        <p:spPr>
          <a:xfrm>
            <a:off x="3246120" y="1234440"/>
            <a:ext cx="2651760" cy="3108960"/>
          </a:xfrm>
          <a:prstGeom prst="roundRect">
            <a:avLst>
              <a:gd name="adj" fmla="val 2069"/>
            </a:avLst>
          </a:prstGeom>
          <a:solidFill>
            <a:schemeClr val="bg2"/>
          </a:solidFill>
          <a:ln w="12700">
            <a:solidFill>
              <a:schemeClr val="bg2"/>
            </a:solidFill>
            <a:prstDash val="solid"/>
          </a:ln>
        </p:spPr>
        <p:txBody>
          <a:bodyPr/>
          <a:lstStyle/>
          <a:p>
            <a:endParaRPr lang="en-US"/>
          </a:p>
        </p:txBody>
      </p:sp>
      <p:sp>
        <p:nvSpPr>
          <p:cNvPr id="8" name="Limits today marker"/>
          <p:cNvSpPr/>
          <p:nvPr/>
        </p:nvSpPr>
        <p:spPr>
          <a:xfrm>
            <a:off x="3447288" y="1444752"/>
            <a:ext cx="182880" cy="182880"/>
          </a:xfrm>
          <a:prstGeom prst="ellipse">
            <a:avLst/>
          </a:prstGeom>
          <a:solidFill>
            <a:schemeClr val="accent2"/>
          </a:solidFill>
          <a:ln w="12700">
            <a:solidFill>
              <a:schemeClr val="accent2"/>
            </a:solidFill>
            <a:prstDash val="solid"/>
          </a:ln>
        </p:spPr>
        <p:txBody>
          <a:bodyPr/>
          <a:lstStyle/>
          <a:p>
            <a:endParaRPr lang="en-US"/>
          </a:p>
        </p:txBody>
      </p:sp>
      <p:sp>
        <p:nvSpPr>
          <p:cNvPr id="9" name="Limits today header"/>
          <p:cNvSpPr txBox="1"/>
          <p:nvPr/>
        </p:nvSpPr>
        <p:spPr>
          <a:xfrm>
            <a:off x="3721608" y="1353312"/>
            <a:ext cx="2011680" cy="365760"/>
          </a:xfrm>
          <a:prstGeom prst="rect">
            <a:avLst/>
          </a:prstGeom>
          <a:noFill/>
          <a:ln/>
        </p:spPr>
        <p:txBody>
          <a:bodyPr wrap="square" lIns="0" tIns="0" rIns="0" bIns="0" rtlCol="0" anchor="ctr"/>
          <a:lstStyle/>
          <a:p>
            <a:pPr marL="0" indent="0">
              <a:buNone/>
            </a:pPr>
            <a:r>
              <a:rPr lang="en-US" sz="1800" b="1" dirty="0">
                <a:solidFill>
                  <a:schemeClr val="accent1"/>
                </a:solidFill>
              </a:rPr>
              <a:t>Limits today</a:t>
            </a:r>
            <a:endParaRPr lang="en-US" sz="1800" dirty="0"/>
          </a:p>
        </p:txBody>
      </p:sp>
      <p:sp>
        <p:nvSpPr>
          <p:cNvPr id="10" name="Limits today list"/>
          <p:cNvSpPr txBox="1"/>
          <p:nvPr/>
        </p:nvSpPr>
        <p:spPr>
          <a:xfrm>
            <a:off x="3447288" y="1874520"/>
            <a:ext cx="2286000" cy="246888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Sleeper only; Yahoo's API is gated</a:t>
            </a:r>
            <a:endParaRPr lang="en-US" sz="1400" dirty="0"/>
          </a:p>
          <a:p>
            <a:pPr marL="342900" indent="-342900">
              <a:spcAft>
                <a:spcPts val="1000"/>
              </a:spcAft>
              <a:buSzPct val="100000"/>
              <a:buChar char="•"/>
            </a:pPr>
            <a:r>
              <a:rPr lang="en-US" sz="1400" dirty="0">
                <a:solidFill>
                  <a:schemeClr val="tx1"/>
                </a:solidFill>
              </a:rPr>
              <a:t>Stale data shows up as zeros until I refresh it by hand</a:t>
            </a:r>
            <a:endParaRPr lang="en-US" sz="1400" dirty="0"/>
          </a:p>
          <a:p>
            <a:pPr marL="342900" indent="-342900">
              <a:spcAft>
                <a:spcPts val="1000"/>
              </a:spcAft>
              <a:buSzPct val="100000"/>
              <a:buChar char="•"/>
            </a:pPr>
            <a:r>
              <a:rPr lang="en-US" sz="1400" dirty="0">
                <a:solidFill>
                  <a:schemeClr val="tx1"/>
                </a:solidFill>
              </a:rPr>
              <a:t>Eval scores vary from run to run</a:t>
            </a:r>
            <a:endParaRPr lang="en-US" sz="1400" dirty="0"/>
          </a:p>
        </p:txBody>
      </p:sp>
      <p:sp>
        <p:nvSpPr>
          <p:cNvPr id="11" name="Next card"/>
          <p:cNvSpPr/>
          <p:nvPr/>
        </p:nvSpPr>
        <p:spPr>
          <a:xfrm>
            <a:off x="6035040" y="1234440"/>
            <a:ext cx="2651760" cy="3108960"/>
          </a:xfrm>
          <a:prstGeom prst="roundRect">
            <a:avLst>
              <a:gd name="adj" fmla="val 2069"/>
            </a:avLst>
          </a:prstGeom>
          <a:solidFill>
            <a:schemeClr val="bg2"/>
          </a:solidFill>
          <a:ln w="12700">
            <a:solidFill>
              <a:schemeClr val="bg2"/>
            </a:solidFill>
            <a:prstDash val="solid"/>
          </a:ln>
        </p:spPr>
        <p:txBody>
          <a:bodyPr/>
          <a:lstStyle/>
          <a:p>
            <a:endParaRPr lang="en-US"/>
          </a:p>
        </p:txBody>
      </p:sp>
      <p:sp>
        <p:nvSpPr>
          <p:cNvPr id="12" name="Next marker"/>
          <p:cNvSpPr/>
          <p:nvPr/>
        </p:nvSpPr>
        <p:spPr>
          <a:xfrm>
            <a:off x="6236208" y="1444752"/>
            <a:ext cx="182880" cy="182880"/>
          </a:xfrm>
          <a:prstGeom prst="ellipse">
            <a:avLst/>
          </a:prstGeom>
          <a:solidFill>
            <a:schemeClr val="accent2"/>
          </a:solidFill>
          <a:ln w="12700">
            <a:solidFill>
              <a:schemeClr val="accent2"/>
            </a:solidFill>
            <a:prstDash val="solid"/>
          </a:ln>
        </p:spPr>
        <p:txBody>
          <a:bodyPr/>
          <a:lstStyle/>
          <a:p>
            <a:endParaRPr lang="en-US"/>
          </a:p>
        </p:txBody>
      </p:sp>
      <p:sp>
        <p:nvSpPr>
          <p:cNvPr id="13" name="Next header"/>
          <p:cNvSpPr txBox="1"/>
          <p:nvPr/>
        </p:nvSpPr>
        <p:spPr>
          <a:xfrm>
            <a:off x="6510528" y="1353312"/>
            <a:ext cx="2011680" cy="365760"/>
          </a:xfrm>
          <a:prstGeom prst="rect">
            <a:avLst/>
          </a:prstGeom>
          <a:noFill/>
          <a:ln/>
        </p:spPr>
        <p:txBody>
          <a:bodyPr wrap="square" lIns="0" tIns="0" rIns="0" bIns="0" rtlCol="0" anchor="ctr"/>
          <a:lstStyle/>
          <a:p>
            <a:pPr marL="0" indent="0">
              <a:buNone/>
            </a:pPr>
            <a:r>
              <a:rPr lang="en-US" sz="1800" b="1" dirty="0">
                <a:solidFill>
                  <a:schemeClr val="accent1"/>
                </a:solidFill>
              </a:rPr>
              <a:t>Next</a:t>
            </a:r>
            <a:endParaRPr lang="en-US" sz="1800" dirty="0"/>
          </a:p>
        </p:txBody>
      </p:sp>
      <p:sp>
        <p:nvSpPr>
          <p:cNvPr id="14" name="Next list"/>
          <p:cNvSpPr txBox="1"/>
          <p:nvPr/>
        </p:nvSpPr>
        <p:spPr>
          <a:xfrm>
            <a:off x="6236208" y="1874520"/>
            <a:ext cx="2286000" cy="246888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A scheduled weekly run that refreshes its own data</a:t>
            </a:r>
            <a:endParaRPr lang="en-US" sz="1400" dirty="0"/>
          </a:p>
          <a:p>
            <a:pPr marL="342900" indent="-342900">
              <a:spcAft>
                <a:spcPts val="1000"/>
              </a:spcAft>
              <a:buSzPct val="100000"/>
              <a:buChar char="•"/>
            </a:pPr>
            <a:r>
              <a:rPr lang="en-US" sz="1400" dirty="0">
                <a:solidFill>
                  <a:schemeClr val="tx1"/>
                </a:solidFill>
              </a:rPr>
              <a:t>ESPN leagues</a:t>
            </a:r>
            <a:endParaRPr lang="en-US" sz="1400" dirty="0"/>
          </a:p>
          <a:p>
            <a:pPr marL="342900" indent="-342900">
              <a:spcAft>
                <a:spcPts val="1000"/>
              </a:spcAft>
              <a:buSzPct val="100000"/>
              <a:buChar char="•"/>
            </a:pPr>
            <a:r>
              <a:rPr lang="en-US" sz="1400" dirty="0">
                <a:solidFill>
                  <a:schemeClr val="tx1"/>
                </a:solidFill>
              </a:rPr>
              <a:t>Deploy the web app around it</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6</a:t>
            </a:fld>
            <a:endParaRPr lang="en-US"/>
          </a:p>
        </p:txBody>
      </p:sp>
    </p:spTree>
  </p:cSld>
  <p:clrMapOvr>
    <a:masterClrMapping/>
  </p:clrMapOvr>
</p:sld>
</file>

<file path=ppt/theme/theme1.xml><?xml version="1.0" encoding="utf-8"?>
<a:theme xmlns:a="http://schemas.openxmlformats.org/drawingml/2006/main" name="Fantasy Agent">
  <a:themeElements>
    <a:clrScheme name="Fantasy Agent">
      <a:dk1>
        <a:srgbClr val="14261C"/>
      </a:dk1>
      <a:lt1>
        <a:srgbClr val="FFFFFF"/>
      </a:lt1>
      <a:dk2>
        <a:srgbClr val="14532D"/>
      </a:dk2>
      <a:lt2>
        <a:srgbClr val="EAF2EC"/>
      </a:lt2>
      <a:accent1>
        <a:srgbClr val="1F7A45"/>
      </a:accent1>
      <a:accent2>
        <a:srgbClr val="F2B705"/>
      </a:accent2>
      <a:accent3>
        <a:srgbClr val="5B6B62"/>
      </a:accent3>
      <a:accent4>
        <a:srgbClr val="0D3B20"/>
      </a:accent4>
      <a:accent5>
        <a:srgbClr val="A7C4B0"/>
      </a:accent5>
      <a:accent6>
        <a:srgbClr val="D9480F"/>
      </a:accent6>
      <a:hlink>
        <a:srgbClr val="1F7A45"/>
      </a:hlink>
      <a:folHlink>
        <a:srgbClr val="5B6B62"/>
      </a:folHlink>
    </a:clrScheme>
    <a:fontScheme name="Fantasy Agen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TotalTime>
  <Words>1161</Words>
  <Application>Microsoft Office PowerPoint</Application>
  <PresentationFormat>On-screen Show (16:9)</PresentationFormat>
  <Paragraphs>84</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Courier New</vt:lpstr>
      <vt:lpstr>Fantasy Agent</vt:lpstr>
      <vt:lpstr>Fantasy Football Agent</vt:lpstr>
      <vt:lpstr>Weekly decisions, scattered data</vt:lpstr>
      <vt:lpstr>A hand-written loop, no framework</vt:lpstr>
      <vt:lpstr>What the agent decides</vt:lpstr>
      <vt:lpstr>Live demo: one question, one command</vt:lpstr>
      <vt:lpstr>What testing caught, and what's next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Fantasy Football Agent</dc:title>
  <dc:subject>PptxGenJS Presentation</dc:subject>
  <dc:creator>Alex</dc:creator>
  <cp:lastModifiedBy>Miller, Alexander Mayor</cp:lastModifiedBy>
  <cp:revision>3</cp:revision>
  <dcterms:created xsi:type="dcterms:W3CDTF">2026-10-11T22:21:56Z</dcterms:created>
  <dcterms:modified xsi:type="dcterms:W3CDTF">2026-10-12T05:43:01Z</dcterms:modified>
</cp:coreProperties>
</file>